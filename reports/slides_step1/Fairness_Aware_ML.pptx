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1800" u="none">
                <a:solidFill>
                  <a:srgbClr val="595959"/>
                </a:solidFill>
                <a:latin typeface="Aptos"/>
              </a:defRPr>
            </a:pPr>
            <a:r>
              <a:rPr b="0" i="0" strike="noStrike" sz="1800" u="none">
                <a:solidFill>
                  <a:srgbClr val="595959"/>
                </a:solidFill>
                <a:latin typeface="Aptos"/>
              </a:rPr>
              <a:t>Fairness comparison across models</a:t>
            </a:r>
          </a:p>
        </c:rich>
      </c:tx>
      <c:layout>
        <c:manualLayout>
          <c:xMode val="edge"/>
          <c:yMode val="edge"/>
          <c:x val="0.245709"/>
          <c:y val="0.0128574"/>
          <c:w val="0.338699"/>
          <c:h val="0.106715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458803"/>
          <c:y val="0.119573"/>
          <c:w val="0.784237"/>
          <c:h val="0.8160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 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SPD(Sex)</c:v>
                </c:pt>
                <c:pt idx="2">
                  <c:v>DI(Sex)</c:v>
                </c:pt>
                <c:pt idx="3">
                  <c:v>SPD(Race)</c:v>
                </c:pt>
                <c:pt idx="4">
                  <c:v>DI(Race)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0.000000</c:v>
                </c:pt>
                <c:pt idx="1">
                  <c:v>0.196000</c:v>
                </c:pt>
                <c:pt idx="2">
                  <c:v>0.366000</c:v>
                </c:pt>
                <c:pt idx="3">
                  <c:v>0.101000</c:v>
                </c:pt>
                <c:pt idx="4">
                  <c:v>0.611000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chemeClr val="accent2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SPD(Sex)</c:v>
                </c:pt>
                <c:pt idx="2">
                  <c:v>DI(Sex)</c:v>
                </c:pt>
                <c:pt idx="3">
                  <c:v>SPD(Race)</c:v>
                </c:pt>
                <c:pt idx="4">
                  <c:v>DI(Race)</c:v>
                </c:pt>
              </c:strCache>
            </c:strRef>
          </c:cat>
          <c:val>
            <c:numRef>
              <c:f>Sheet1!$C$2:$C$6</c:f>
              <c:numCache>
                <c:ptCount val="5"/>
                <c:pt idx="0">
                  <c:v>0.848000</c:v>
                </c:pt>
                <c:pt idx="1">
                  <c:v>0.175000</c:v>
                </c:pt>
                <c:pt idx="2">
                  <c:v>0.321000</c:v>
                </c:pt>
                <c:pt idx="3">
                  <c:v>0.085000</c:v>
                </c:pt>
                <c:pt idx="4">
                  <c:v>0.599000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SPD(Sex)</c:v>
                </c:pt>
                <c:pt idx="2">
                  <c:v>DI(Sex)</c:v>
                </c:pt>
                <c:pt idx="3">
                  <c:v>SPD(Race)</c:v>
                </c:pt>
                <c:pt idx="4">
                  <c:v>DI(Race)</c:v>
                </c:pt>
              </c:strCache>
            </c:strRef>
          </c:cat>
          <c:val>
            <c:numRef>
              <c:f>Sheet1!$D$2:$D$6</c:f>
              <c:numCache>
                <c:ptCount val="5"/>
                <c:pt idx="0">
                  <c:v>0.845000</c:v>
                </c:pt>
                <c:pt idx="1">
                  <c:v>0.181000</c:v>
                </c:pt>
                <c:pt idx="2">
                  <c:v>0.340000</c:v>
                </c:pt>
                <c:pt idx="3">
                  <c:v>0.089000</c:v>
                </c:pt>
                <c:pt idx="4">
                  <c:v>0.607000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 </c:v>
                </c:pt>
              </c:strCache>
            </c:strRef>
          </c:tx>
          <c:spPr>
            <a:solidFill>
              <a:schemeClr val="accent4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SPD(Sex)</c:v>
                </c:pt>
                <c:pt idx="2">
                  <c:v>DI(Sex)</c:v>
                </c:pt>
                <c:pt idx="3">
                  <c:v>SPD(Race)</c:v>
                </c:pt>
                <c:pt idx="4">
                  <c:v>DI(Race)</c:v>
                </c:pt>
              </c:strCache>
            </c:strRef>
          </c:cat>
          <c:val>
            <c:numRef>
              <c:f>Sheet1!$E$2:$E$6</c:f>
              <c:numCache>
                <c:ptCount val="5"/>
                <c:pt idx="0">
                  <c:v>0.870000</c:v>
                </c:pt>
                <c:pt idx="1">
                  <c:v>0.175000</c:v>
                </c:pt>
                <c:pt idx="2">
                  <c:v>0.337000</c:v>
                </c:pt>
                <c:pt idx="3">
                  <c:v>0.082000</c:v>
                </c:pt>
                <c:pt idx="4">
                  <c:v>0.626000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Apto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.###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Aptos"/>
              </a:defRPr>
            </a:pPr>
          </a:p>
        </c:txPr>
        <c:crossAx val="2094734552"/>
        <c:crosses val="autoZero"/>
        <c:crossBetween val="between"/>
        <c:majorUnit val="0.225"/>
        <c:minorUnit val="0.112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51873"/>
          <c:y val="0"/>
          <c:w val="0.148127"/>
          <c:h val="0.188122"/>
        </c:manualLayout>
      </c:layout>
      <c:overlay val="1"/>
      <c:spPr>
        <a:noFill/>
        <a:ln w="19050" cap="rnd">
          <a:solidFill>
            <a:schemeClr val="accent1"/>
          </a:solidFill>
          <a:prstDash val="solid"/>
          <a:round/>
        </a:ln>
        <a:effectLst/>
      </c:spPr>
      <c:txPr>
        <a:bodyPr rot="0"/>
        <a:lstStyle/>
        <a:p>
          <a:pPr>
            <a:defRPr b="0" i="0" strike="noStrike" sz="1100" u="none">
              <a:solidFill>
                <a:srgbClr val="595959"/>
              </a:solidFill>
              <a:latin typeface="Aptos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ctrTitle"/>
          </p:nvPr>
        </p:nvSpPr>
        <p:spPr>
          <a:xfrm>
            <a:off x="643467" y="643466"/>
            <a:ext cx="4620586" cy="4567139"/>
          </a:xfrm>
          <a:prstGeom prst="rect">
            <a:avLst/>
          </a:prstGeom>
        </p:spPr>
        <p:txBody>
          <a:bodyPr/>
          <a:lstStyle>
            <a:lvl1pPr algn="l">
              <a:defRPr sz="4400"/>
            </a:lvl1pPr>
          </a:lstStyle>
          <a:p>
            <a:pPr/>
            <a:r>
              <a:t>Fairness Aware Machine learning</a:t>
            </a:r>
          </a:p>
        </p:txBody>
      </p:sp>
      <p:sp>
        <p:nvSpPr>
          <p:cNvPr id="104" name="Subtitle 2"/>
          <p:cNvSpPr txBox="1"/>
          <p:nvPr>
            <p:ph type="subTitle" sz="quarter" idx="1"/>
          </p:nvPr>
        </p:nvSpPr>
        <p:spPr>
          <a:xfrm>
            <a:off x="643466" y="5277684"/>
            <a:ext cx="4620586" cy="775495"/>
          </a:xfrm>
          <a:prstGeom prst="rect">
            <a:avLst/>
          </a:prstGeom>
        </p:spPr>
        <p:txBody>
          <a:bodyPr/>
          <a:lstStyle/>
          <a:p>
            <a:pPr algn="l" defTabSz="886968">
              <a:spcBef>
                <a:spcPts val="900"/>
              </a:spcBef>
              <a:defRPr sz="1940"/>
            </a:pPr>
            <a:r>
              <a:t>Charles Santhakumar</a:t>
            </a:r>
          </a:p>
          <a:p>
            <a:pPr algn="l" defTabSz="886968">
              <a:spcBef>
                <a:spcPts val="900"/>
              </a:spcBef>
              <a:defRPr sz="1940"/>
            </a:pPr>
            <a:r>
              <a:t>Roberto Villafuerte</a:t>
            </a:r>
          </a:p>
        </p:txBody>
      </p:sp>
      <p:pic>
        <p:nvPicPr>
          <p:cNvPr id="1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rcRect l="8828" t="0" r="4227" b="0"/>
          <a:stretch>
            <a:fillRect/>
          </a:stretch>
        </p:blipFill>
        <p:spPr>
          <a:xfrm>
            <a:off x="6229249" y="9"/>
            <a:ext cx="5962617" cy="6857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6" h="21600" fill="norm" stroke="1" extrusionOk="0">
                <a:moveTo>
                  <a:pt x="3776" y="0"/>
                </a:moveTo>
                <a:lnTo>
                  <a:pt x="4190" y="138"/>
                </a:lnTo>
                <a:cubicBezTo>
                  <a:pt x="4371" y="199"/>
                  <a:pt x="4553" y="258"/>
                  <a:pt x="4736" y="309"/>
                </a:cubicBezTo>
                <a:cubicBezTo>
                  <a:pt x="4684" y="422"/>
                  <a:pt x="4631" y="400"/>
                  <a:pt x="4579" y="389"/>
                </a:cubicBezTo>
                <a:cubicBezTo>
                  <a:pt x="4263" y="343"/>
                  <a:pt x="3938" y="309"/>
                  <a:pt x="3634" y="184"/>
                </a:cubicBezTo>
                <a:cubicBezTo>
                  <a:pt x="3560" y="161"/>
                  <a:pt x="3476" y="161"/>
                  <a:pt x="3444" y="240"/>
                </a:cubicBezTo>
                <a:cubicBezTo>
                  <a:pt x="3392" y="354"/>
                  <a:pt x="3465" y="422"/>
                  <a:pt x="3539" y="479"/>
                </a:cubicBezTo>
                <a:cubicBezTo>
                  <a:pt x="3665" y="581"/>
                  <a:pt x="3813" y="559"/>
                  <a:pt x="3949" y="570"/>
                </a:cubicBezTo>
                <a:cubicBezTo>
                  <a:pt x="4327" y="627"/>
                  <a:pt x="4506" y="785"/>
                  <a:pt x="4590" y="1149"/>
                </a:cubicBezTo>
                <a:cubicBezTo>
                  <a:pt x="4264" y="1001"/>
                  <a:pt x="3939" y="1183"/>
                  <a:pt x="3624" y="1081"/>
                </a:cubicBezTo>
                <a:cubicBezTo>
                  <a:pt x="3539" y="1059"/>
                  <a:pt x="3412" y="1093"/>
                  <a:pt x="3454" y="1218"/>
                </a:cubicBezTo>
                <a:cubicBezTo>
                  <a:pt x="3496" y="1331"/>
                  <a:pt x="3634" y="1421"/>
                  <a:pt x="3393" y="1399"/>
                </a:cubicBezTo>
                <a:cubicBezTo>
                  <a:pt x="3214" y="1387"/>
                  <a:pt x="3161" y="1251"/>
                  <a:pt x="3109" y="1104"/>
                </a:cubicBezTo>
                <a:cubicBezTo>
                  <a:pt x="3067" y="1024"/>
                  <a:pt x="2950" y="978"/>
                  <a:pt x="2866" y="1024"/>
                </a:cubicBezTo>
                <a:cubicBezTo>
                  <a:pt x="2761" y="1069"/>
                  <a:pt x="2793" y="1194"/>
                  <a:pt x="2793" y="1285"/>
                </a:cubicBezTo>
                <a:cubicBezTo>
                  <a:pt x="2783" y="1455"/>
                  <a:pt x="2867" y="1535"/>
                  <a:pt x="3014" y="1569"/>
                </a:cubicBezTo>
                <a:cubicBezTo>
                  <a:pt x="3193" y="1614"/>
                  <a:pt x="3371" y="1671"/>
                  <a:pt x="3602" y="1739"/>
                </a:cubicBezTo>
                <a:cubicBezTo>
                  <a:pt x="3350" y="1852"/>
                  <a:pt x="3160" y="1830"/>
                  <a:pt x="2971" y="1739"/>
                </a:cubicBezTo>
                <a:cubicBezTo>
                  <a:pt x="2740" y="1637"/>
                  <a:pt x="2436" y="1501"/>
                  <a:pt x="2247" y="1626"/>
                </a:cubicBezTo>
                <a:cubicBezTo>
                  <a:pt x="1963" y="1808"/>
                  <a:pt x="1732" y="1694"/>
                  <a:pt x="1479" y="1660"/>
                </a:cubicBezTo>
                <a:cubicBezTo>
                  <a:pt x="954" y="1592"/>
                  <a:pt x="1281" y="1489"/>
                  <a:pt x="755" y="1432"/>
                </a:cubicBezTo>
                <a:cubicBezTo>
                  <a:pt x="545" y="1410"/>
                  <a:pt x="324" y="1319"/>
                  <a:pt x="20" y="1444"/>
                </a:cubicBezTo>
                <a:cubicBezTo>
                  <a:pt x="1396" y="2102"/>
                  <a:pt x="2047" y="2056"/>
                  <a:pt x="3276" y="2862"/>
                </a:cubicBezTo>
                <a:cubicBezTo>
                  <a:pt x="3224" y="2942"/>
                  <a:pt x="3171" y="2909"/>
                  <a:pt x="3119" y="2898"/>
                </a:cubicBezTo>
                <a:cubicBezTo>
                  <a:pt x="3035" y="2886"/>
                  <a:pt x="2930" y="2840"/>
                  <a:pt x="2909" y="2988"/>
                </a:cubicBezTo>
                <a:cubicBezTo>
                  <a:pt x="2899" y="3101"/>
                  <a:pt x="2961" y="3159"/>
                  <a:pt x="3066" y="3170"/>
                </a:cubicBezTo>
                <a:cubicBezTo>
                  <a:pt x="3370" y="3215"/>
                  <a:pt x="3644" y="3374"/>
                  <a:pt x="3918" y="3510"/>
                </a:cubicBezTo>
                <a:cubicBezTo>
                  <a:pt x="4044" y="3567"/>
                  <a:pt x="4179" y="3647"/>
                  <a:pt x="4127" y="3851"/>
                </a:cubicBezTo>
                <a:cubicBezTo>
                  <a:pt x="4022" y="3908"/>
                  <a:pt x="3949" y="3828"/>
                  <a:pt x="3864" y="3816"/>
                </a:cubicBezTo>
                <a:cubicBezTo>
                  <a:pt x="3780" y="3805"/>
                  <a:pt x="3581" y="3851"/>
                  <a:pt x="3634" y="3885"/>
                </a:cubicBezTo>
                <a:cubicBezTo>
                  <a:pt x="3875" y="4010"/>
                  <a:pt x="3434" y="4316"/>
                  <a:pt x="3728" y="4316"/>
                </a:cubicBezTo>
                <a:cubicBezTo>
                  <a:pt x="4212" y="4316"/>
                  <a:pt x="4474" y="4861"/>
                  <a:pt x="4936" y="4872"/>
                </a:cubicBezTo>
                <a:cubicBezTo>
                  <a:pt x="5009" y="4872"/>
                  <a:pt x="5042" y="4974"/>
                  <a:pt x="5042" y="5054"/>
                </a:cubicBezTo>
                <a:cubicBezTo>
                  <a:pt x="5042" y="5156"/>
                  <a:pt x="4968" y="5167"/>
                  <a:pt x="4894" y="5179"/>
                </a:cubicBezTo>
                <a:cubicBezTo>
                  <a:pt x="4779" y="5190"/>
                  <a:pt x="4653" y="5055"/>
                  <a:pt x="4506" y="5248"/>
                </a:cubicBezTo>
                <a:cubicBezTo>
                  <a:pt x="4779" y="5361"/>
                  <a:pt x="5062" y="5474"/>
                  <a:pt x="5052" y="5860"/>
                </a:cubicBezTo>
                <a:cubicBezTo>
                  <a:pt x="5052" y="5962"/>
                  <a:pt x="5167" y="6007"/>
                  <a:pt x="5251" y="6030"/>
                </a:cubicBezTo>
                <a:cubicBezTo>
                  <a:pt x="5398" y="6075"/>
                  <a:pt x="5514" y="6144"/>
                  <a:pt x="5598" y="6291"/>
                </a:cubicBezTo>
                <a:cubicBezTo>
                  <a:pt x="5598" y="6325"/>
                  <a:pt x="5598" y="6348"/>
                  <a:pt x="5598" y="6382"/>
                </a:cubicBezTo>
                <a:cubicBezTo>
                  <a:pt x="5577" y="6734"/>
                  <a:pt x="5368" y="6723"/>
                  <a:pt x="5137" y="6666"/>
                </a:cubicBezTo>
                <a:cubicBezTo>
                  <a:pt x="4863" y="6598"/>
                  <a:pt x="4590" y="6461"/>
                  <a:pt x="4296" y="6586"/>
                </a:cubicBezTo>
                <a:cubicBezTo>
                  <a:pt x="4706" y="6757"/>
                  <a:pt x="5157" y="6768"/>
                  <a:pt x="5535" y="7006"/>
                </a:cubicBezTo>
                <a:cubicBezTo>
                  <a:pt x="4127" y="7052"/>
                  <a:pt x="2888" y="6291"/>
                  <a:pt x="1523" y="5996"/>
                </a:cubicBezTo>
                <a:cubicBezTo>
                  <a:pt x="1565" y="6189"/>
                  <a:pt x="1679" y="6235"/>
                  <a:pt x="1773" y="6258"/>
                </a:cubicBezTo>
                <a:cubicBezTo>
                  <a:pt x="2278" y="6405"/>
                  <a:pt x="2720" y="6700"/>
                  <a:pt x="3182" y="6950"/>
                </a:cubicBezTo>
                <a:cubicBezTo>
                  <a:pt x="3371" y="7052"/>
                  <a:pt x="3507" y="7166"/>
                  <a:pt x="3581" y="7381"/>
                </a:cubicBezTo>
                <a:cubicBezTo>
                  <a:pt x="3644" y="7586"/>
                  <a:pt x="3770" y="7677"/>
                  <a:pt x="4001" y="7620"/>
                </a:cubicBezTo>
                <a:cubicBezTo>
                  <a:pt x="4190" y="7575"/>
                  <a:pt x="4391" y="7597"/>
                  <a:pt x="4590" y="7620"/>
                </a:cubicBezTo>
                <a:cubicBezTo>
                  <a:pt x="4811" y="7643"/>
                  <a:pt x="5063" y="7870"/>
                  <a:pt x="5010" y="7995"/>
                </a:cubicBezTo>
                <a:cubicBezTo>
                  <a:pt x="4905" y="8199"/>
                  <a:pt x="4726" y="8096"/>
                  <a:pt x="4579" y="8074"/>
                </a:cubicBezTo>
                <a:cubicBezTo>
                  <a:pt x="4400" y="8051"/>
                  <a:pt x="4075" y="7995"/>
                  <a:pt x="4075" y="8018"/>
                </a:cubicBezTo>
                <a:cubicBezTo>
                  <a:pt x="3960" y="8528"/>
                  <a:pt x="3696" y="8142"/>
                  <a:pt x="3507" y="8142"/>
                </a:cubicBezTo>
                <a:cubicBezTo>
                  <a:pt x="3329" y="8142"/>
                  <a:pt x="3151" y="8085"/>
                  <a:pt x="2982" y="8040"/>
                </a:cubicBezTo>
                <a:cubicBezTo>
                  <a:pt x="2762" y="7983"/>
                  <a:pt x="2562" y="8085"/>
                  <a:pt x="2351" y="8108"/>
                </a:cubicBezTo>
                <a:cubicBezTo>
                  <a:pt x="2162" y="8130"/>
                  <a:pt x="2268" y="8426"/>
                  <a:pt x="2152" y="8551"/>
                </a:cubicBezTo>
                <a:cubicBezTo>
                  <a:pt x="2131" y="8585"/>
                  <a:pt x="2110" y="8585"/>
                  <a:pt x="2089" y="8585"/>
                </a:cubicBezTo>
                <a:cubicBezTo>
                  <a:pt x="2026" y="9471"/>
                  <a:pt x="923" y="9255"/>
                  <a:pt x="923" y="9289"/>
                </a:cubicBezTo>
                <a:cubicBezTo>
                  <a:pt x="828" y="9346"/>
                  <a:pt x="713" y="9209"/>
                  <a:pt x="598" y="9345"/>
                </a:cubicBezTo>
                <a:cubicBezTo>
                  <a:pt x="1091" y="9969"/>
                  <a:pt x="1847" y="10117"/>
                  <a:pt x="2519" y="10582"/>
                </a:cubicBezTo>
                <a:cubicBezTo>
                  <a:pt x="1962" y="10741"/>
                  <a:pt x="1637" y="10197"/>
                  <a:pt x="1227" y="10265"/>
                </a:cubicBezTo>
                <a:cubicBezTo>
                  <a:pt x="1027" y="10435"/>
                  <a:pt x="1627" y="10708"/>
                  <a:pt x="1049" y="10788"/>
                </a:cubicBezTo>
                <a:cubicBezTo>
                  <a:pt x="1301" y="10935"/>
                  <a:pt x="1480" y="11082"/>
                  <a:pt x="1659" y="11252"/>
                </a:cubicBezTo>
                <a:cubicBezTo>
                  <a:pt x="1963" y="11559"/>
                  <a:pt x="2027" y="11764"/>
                  <a:pt x="1880" y="12172"/>
                </a:cubicBezTo>
                <a:cubicBezTo>
                  <a:pt x="1785" y="12445"/>
                  <a:pt x="1647" y="12695"/>
                  <a:pt x="1773" y="13012"/>
                </a:cubicBezTo>
                <a:cubicBezTo>
                  <a:pt x="1858" y="13228"/>
                  <a:pt x="1826" y="13376"/>
                  <a:pt x="1511" y="13274"/>
                </a:cubicBezTo>
                <a:cubicBezTo>
                  <a:pt x="1175" y="13172"/>
                  <a:pt x="1048" y="13364"/>
                  <a:pt x="1132" y="13750"/>
                </a:cubicBezTo>
                <a:cubicBezTo>
                  <a:pt x="1185" y="14000"/>
                  <a:pt x="1133" y="14079"/>
                  <a:pt x="902" y="14045"/>
                </a:cubicBezTo>
                <a:cubicBezTo>
                  <a:pt x="649" y="14011"/>
                  <a:pt x="408" y="13853"/>
                  <a:pt x="93" y="13932"/>
                </a:cubicBezTo>
                <a:cubicBezTo>
                  <a:pt x="345" y="14387"/>
                  <a:pt x="881" y="14250"/>
                  <a:pt x="1175" y="14681"/>
                </a:cubicBezTo>
                <a:cubicBezTo>
                  <a:pt x="829" y="14681"/>
                  <a:pt x="556" y="14681"/>
                  <a:pt x="304" y="14590"/>
                </a:cubicBezTo>
                <a:cubicBezTo>
                  <a:pt x="198" y="14556"/>
                  <a:pt x="83" y="14511"/>
                  <a:pt x="20" y="14648"/>
                </a:cubicBezTo>
                <a:cubicBezTo>
                  <a:pt x="-54" y="14806"/>
                  <a:pt x="93" y="14862"/>
                  <a:pt x="177" y="14885"/>
                </a:cubicBezTo>
                <a:cubicBezTo>
                  <a:pt x="419" y="14964"/>
                  <a:pt x="608" y="15146"/>
                  <a:pt x="818" y="15294"/>
                </a:cubicBezTo>
                <a:cubicBezTo>
                  <a:pt x="1270" y="15612"/>
                  <a:pt x="1764" y="15884"/>
                  <a:pt x="2142" y="16406"/>
                </a:cubicBezTo>
                <a:cubicBezTo>
                  <a:pt x="1669" y="16270"/>
                  <a:pt x="1312" y="15953"/>
                  <a:pt x="860" y="15896"/>
                </a:cubicBezTo>
                <a:cubicBezTo>
                  <a:pt x="1249" y="16373"/>
                  <a:pt x="1743" y="16691"/>
                  <a:pt x="2205" y="17042"/>
                </a:cubicBezTo>
                <a:cubicBezTo>
                  <a:pt x="2342" y="17145"/>
                  <a:pt x="2478" y="17213"/>
                  <a:pt x="2499" y="17429"/>
                </a:cubicBezTo>
                <a:cubicBezTo>
                  <a:pt x="2562" y="17849"/>
                  <a:pt x="2730" y="18190"/>
                  <a:pt x="3109" y="18371"/>
                </a:cubicBezTo>
                <a:cubicBezTo>
                  <a:pt x="3109" y="18371"/>
                  <a:pt x="3088" y="18438"/>
                  <a:pt x="3077" y="18472"/>
                </a:cubicBezTo>
                <a:cubicBezTo>
                  <a:pt x="2846" y="18484"/>
                  <a:pt x="2667" y="18234"/>
                  <a:pt x="2383" y="18325"/>
                </a:cubicBezTo>
                <a:cubicBezTo>
                  <a:pt x="2667" y="18666"/>
                  <a:pt x="2898" y="18961"/>
                  <a:pt x="3287" y="19120"/>
                </a:cubicBezTo>
                <a:cubicBezTo>
                  <a:pt x="3602" y="19245"/>
                  <a:pt x="3990" y="19325"/>
                  <a:pt x="4222" y="19734"/>
                </a:cubicBezTo>
                <a:cubicBezTo>
                  <a:pt x="3959" y="19813"/>
                  <a:pt x="3760" y="19711"/>
                  <a:pt x="3560" y="19642"/>
                </a:cubicBezTo>
                <a:cubicBezTo>
                  <a:pt x="3256" y="19529"/>
                  <a:pt x="2950" y="19404"/>
                  <a:pt x="2645" y="19290"/>
                </a:cubicBezTo>
                <a:cubicBezTo>
                  <a:pt x="2530" y="19245"/>
                  <a:pt x="2405" y="19222"/>
                  <a:pt x="2331" y="19426"/>
                </a:cubicBezTo>
                <a:cubicBezTo>
                  <a:pt x="2720" y="19472"/>
                  <a:pt x="2950" y="19745"/>
                  <a:pt x="3192" y="20006"/>
                </a:cubicBezTo>
                <a:cubicBezTo>
                  <a:pt x="3328" y="20154"/>
                  <a:pt x="3445" y="20346"/>
                  <a:pt x="3687" y="20278"/>
                </a:cubicBezTo>
                <a:cubicBezTo>
                  <a:pt x="3813" y="20243"/>
                  <a:pt x="3896" y="20346"/>
                  <a:pt x="3886" y="20482"/>
                </a:cubicBezTo>
                <a:cubicBezTo>
                  <a:pt x="3833" y="20959"/>
                  <a:pt x="4137" y="21118"/>
                  <a:pt x="4452" y="21209"/>
                </a:cubicBezTo>
                <a:cubicBezTo>
                  <a:pt x="4684" y="21277"/>
                  <a:pt x="4902" y="21379"/>
                  <a:pt x="5116" y="21492"/>
                </a:cubicBezTo>
                <a:lnTo>
                  <a:pt x="5312" y="21600"/>
                </a:lnTo>
                <a:lnTo>
                  <a:pt x="21546" y="21600"/>
                </a:lnTo>
                <a:lnTo>
                  <a:pt x="21546" y="0"/>
                </a:lnTo>
                <a:lnTo>
                  <a:pt x="3776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700"/>
                                        <p:tgtEl>
                                          <p:spTgt spid="10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7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1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7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04" grpId="2"/>
      <p:bldP build="whole" bldLvl="1" animBg="1" rev="0" advAuto="0" spid="10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521208" y="978408"/>
            <a:ext cx="8686801" cy="1463041"/>
          </a:xfrm>
          <a:prstGeom prst="rect">
            <a:avLst/>
          </a:prstGeom>
        </p:spPr>
        <p:txBody>
          <a:bodyPr/>
          <a:lstStyle/>
          <a:p>
            <a:pPr/>
            <a:r>
              <a:t>Dataset &amp; Sensitive variable</a:t>
            </a:r>
          </a:p>
        </p:txBody>
      </p:sp>
      <p:grpSp>
        <p:nvGrpSpPr>
          <p:cNvPr id="116" name="Content Placeholder 2"/>
          <p:cNvGrpSpPr/>
          <p:nvPr/>
        </p:nvGrpSpPr>
        <p:grpSpPr>
          <a:xfrm>
            <a:off x="521759" y="3083492"/>
            <a:ext cx="8684681" cy="2756353"/>
            <a:chOff x="0" y="0"/>
            <a:chExt cx="8684678" cy="2756351"/>
          </a:xfrm>
        </p:grpSpPr>
        <p:sp>
          <p:nvSpPr>
            <p:cNvPr id="108" name="Rounded Rectangle"/>
            <p:cNvSpPr/>
            <p:nvPr/>
          </p:nvSpPr>
          <p:spPr>
            <a:xfrm>
              <a:off x="0" y="0"/>
              <a:ext cx="3722005" cy="2363473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grpSp>
          <p:nvGrpSpPr>
            <p:cNvPr id="111" name="Group"/>
            <p:cNvGrpSpPr/>
            <p:nvPr/>
          </p:nvGrpSpPr>
          <p:grpSpPr>
            <a:xfrm>
              <a:off x="413556" y="392878"/>
              <a:ext cx="3722005" cy="2363474"/>
              <a:chOff x="0" y="0"/>
              <a:chExt cx="3722004" cy="2363472"/>
            </a:xfrm>
          </p:grpSpPr>
          <p:sp>
            <p:nvSpPr>
              <p:cNvPr id="109" name="Rounded Rectangle"/>
              <p:cNvSpPr/>
              <p:nvPr/>
            </p:nvSpPr>
            <p:spPr>
              <a:xfrm>
                <a:off x="0" y="0"/>
                <a:ext cx="3722005" cy="236347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5557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110" name="Dataset - Census income dataset"/>
              <p:cNvSpPr txBox="1"/>
              <p:nvPr/>
            </p:nvSpPr>
            <p:spPr>
              <a:xfrm>
                <a:off x="69223" y="301626"/>
                <a:ext cx="3583558" cy="1760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algn="ctr" defTabSz="1555750">
                  <a:lnSpc>
                    <a:spcPct val="90000"/>
                  </a:lnSpc>
                  <a:spcBef>
                    <a:spcPts val="1400"/>
                  </a:spcBef>
                  <a:defRPr sz="3500"/>
                </a:lvl1pPr>
              </a:lstStyle>
              <a:p>
                <a:pPr/>
                <a:r>
                  <a:t>Dataset - Census income dataset</a:t>
                </a:r>
              </a:p>
            </p:txBody>
          </p:sp>
        </p:grpSp>
        <p:sp>
          <p:nvSpPr>
            <p:cNvPr id="112" name="Rounded Rectangle"/>
            <p:cNvSpPr/>
            <p:nvPr/>
          </p:nvSpPr>
          <p:spPr>
            <a:xfrm>
              <a:off x="4549118" y="0"/>
              <a:ext cx="3722006" cy="2363473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grpSp>
          <p:nvGrpSpPr>
            <p:cNvPr id="115" name="Group"/>
            <p:cNvGrpSpPr/>
            <p:nvPr/>
          </p:nvGrpSpPr>
          <p:grpSpPr>
            <a:xfrm>
              <a:off x="4962673" y="392878"/>
              <a:ext cx="3722006" cy="2363474"/>
              <a:chOff x="0" y="0"/>
              <a:chExt cx="3722004" cy="2363472"/>
            </a:xfrm>
          </p:grpSpPr>
          <p:sp>
            <p:nvSpPr>
              <p:cNvPr id="113" name="Rounded Rectangle"/>
              <p:cNvSpPr/>
              <p:nvPr/>
            </p:nvSpPr>
            <p:spPr>
              <a:xfrm>
                <a:off x="0" y="0"/>
                <a:ext cx="3722005" cy="236347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5557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114" name="Sensitive variables considered – Race and Sex"/>
              <p:cNvSpPr txBox="1"/>
              <p:nvPr/>
            </p:nvSpPr>
            <p:spPr>
              <a:xfrm>
                <a:off x="69224" y="61596"/>
                <a:ext cx="3583557" cy="22402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algn="ctr" defTabSz="1555750">
                  <a:lnSpc>
                    <a:spcPct val="90000"/>
                  </a:lnSpc>
                  <a:spcBef>
                    <a:spcPts val="1400"/>
                  </a:spcBef>
                  <a:defRPr sz="3500"/>
                </a:lvl1pPr>
              </a:lstStyle>
              <a:p>
                <a:pPr/>
                <a:r>
                  <a:t>Sensitive variables considered – Race and Sex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EDA fin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EDA findings</a:t>
            </a:r>
          </a:p>
        </p:txBody>
      </p:sp>
      <p:pic>
        <p:nvPicPr>
          <p:cNvPr id="1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2227592"/>
            <a:ext cx="12192001" cy="34799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EDA fin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EDA findings</a:t>
            </a:r>
          </a:p>
        </p:txBody>
      </p:sp>
      <p:pic>
        <p:nvPicPr>
          <p:cNvPr id="12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" y="2128765"/>
            <a:ext cx="12192000" cy="39990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EDA fin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EDA findings</a:t>
            </a:r>
          </a:p>
        </p:txBody>
      </p:sp>
      <p:pic>
        <p:nvPicPr>
          <p:cNvPr id="12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0350" y="1524793"/>
            <a:ext cx="9131300" cy="4953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xfrm>
            <a:off x="838199" y="557187"/>
            <a:ext cx="4862850" cy="5569293"/>
          </a:xfrm>
          <a:prstGeom prst="rect">
            <a:avLst/>
          </a:prstGeom>
        </p:spPr>
        <p:txBody>
          <a:bodyPr/>
          <a:lstStyle>
            <a:lvl1pPr>
              <a:defRPr sz="5200"/>
            </a:lvl1pPr>
          </a:lstStyle>
          <a:p>
            <a:pPr/>
            <a:r>
              <a:t>Fairness metrics</a:t>
            </a:r>
          </a:p>
        </p:txBody>
      </p:sp>
      <p:grpSp>
        <p:nvGrpSpPr>
          <p:cNvPr id="133" name="Content Placeholder 2"/>
          <p:cNvGrpSpPr/>
          <p:nvPr/>
        </p:nvGrpSpPr>
        <p:grpSpPr>
          <a:xfrm>
            <a:off x="6099085" y="1303668"/>
            <a:ext cx="5257723" cy="4140146"/>
            <a:chOff x="0" y="0"/>
            <a:chExt cx="5257721" cy="4140144"/>
          </a:xfrm>
        </p:grpSpPr>
        <p:sp>
          <p:nvSpPr>
            <p:cNvPr id="128" name="Square"/>
            <p:cNvSpPr/>
            <p:nvPr/>
          </p:nvSpPr>
          <p:spPr>
            <a:xfrm>
              <a:off x="785637" y="0"/>
              <a:ext cx="846070" cy="846069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29" name="Demographic parity as fairness measurement method  “How often does each group receives income over the set threshold?”"/>
            <p:cNvSpPr txBox="1"/>
            <p:nvPr/>
          </p:nvSpPr>
          <p:spPr>
            <a:xfrm>
              <a:off x="0" y="1024151"/>
              <a:ext cx="2417343" cy="13817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 defTabSz="622300">
                <a:lnSpc>
                  <a:spcPct val="90000"/>
                </a:lnSpc>
                <a:spcBef>
                  <a:spcPts val="500"/>
                </a:spcBef>
                <a:defRPr b="1" sz="1400"/>
              </a:pPr>
              <a:r>
                <a:t>Demographic parity as fairness measurement method</a:t>
              </a:r>
              <a:br/>
              <a:br/>
              <a:r>
                <a:rPr i="1"/>
                <a:t>“How often does each group receives income over the set threshold?”</a:t>
              </a:r>
            </a:p>
          </p:txBody>
        </p:sp>
        <p:sp>
          <p:nvSpPr>
            <p:cNvPr id="130" name="Square"/>
            <p:cNvSpPr/>
            <p:nvPr/>
          </p:nvSpPr>
          <p:spPr>
            <a:xfrm>
              <a:off x="3626015" y="0"/>
              <a:ext cx="846070" cy="846069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31" name="Metrics:"/>
            <p:cNvSpPr txBox="1"/>
            <p:nvPr/>
          </p:nvSpPr>
          <p:spPr>
            <a:xfrm>
              <a:off x="2840378" y="1024151"/>
              <a:ext cx="2417344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b="1" sz="1400"/>
              </a:lvl1pPr>
            </a:lstStyle>
            <a:p>
              <a:pPr/>
              <a:r>
                <a:t>Metrics:</a:t>
              </a:r>
            </a:p>
          </p:txBody>
        </p:sp>
        <p:sp>
          <p:nvSpPr>
            <p:cNvPr id="132" name="Statistical parity difference (SPD) “Gap in the positive outcome between privileged vs unprivileged groups”…"/>
            <p:cNvSpPr txBox="1"/>
            <p:nvPr/>
          </p:nvSpPr>
          <p:spPr>
            <a:xfrm>
              <a:off x="2840378" y="2489398"/>
              <a:ext cx="2417344" cy="16507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 defTabSz="622300">
                <a:lnSpc>
                  <a:spcPct val="90000"/>
                </a:lnSpc>
                <a:spcBef>
                  <a:spcPts val="500"/>
                </a:spcBef>
                <a:defRPr sz="1400"/>
              </a:pPr>
              <a:r>
                <a:t>Statistical parity difference (SPD)</a:t>
              </a:r>
              <a:br/>
              <a:r>
                <a:t>“Gap in the positive outcome between privileged vs unprivileged groups”</a:t>
              </a:r>
              <a:endParaRPr sz="2800"/>
            </a:p>
            <a:p>
              <a:pPr algn="ctr" defTabSz="622300">
                <a:lnSpc>
                  <a:spcPct val="90000"/>
                </a:lnSpc>
                <a:spcBef>
                  <a:spcPts val="500"/>
                </a:spcBef>
                <a:defRPr sz="1400"/>
              </a:pPr>
              <a:r>
                <a:t>Disparate Impact (DI)</a:t>
              </a:r>
              <a:br/>
              <a:r>
                <a:rPr i="1"/>
                <a:t>“Ratio – privileged vs unprivileged</a:t>
              </a:r>
              <a:r>
                <a:rPr i="1" sz="1100"/>
                <a:t>”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26" descr="Picture 26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rcRect l="0" t="0" r="0" b="12790"/>
          <a:stretch>
            <a:fillRect/>
          </a:stretch>
        </p:blipFill>
        <p:spPr>
          <a:xfrm>
            <a:off x="19" y="10"/>
            <a:ext cx="12191981" cy="6857990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Raw Fairness</a:t>
            </a:r>
          </a:p>
        </p:txBody>
      </p:sp>
      <p:grpSp>
        <p:nvGrpSpPr>
          <p:cNvPr id="149" name="Content Placeholder 2"/>
          <p:cNvGrpSpPr/>
          <p:nvPr/>
        </p:nvGrpSpPr>
        <p:grpSpPr>
          <a:xfrm>
            <a:off x="838200" y="1956448"/>
            <a:ext cx="10515600" cy="4089691"/>
            <a:chOff x="0" y="0"/>
            <a:chExt cx="10515600" cy="4089689"/>
          </a:xfrm>
        </p:grpSpPr>
        <p:grpSp>
          <p:nvGrpSpPr>
            <p:cNvPr id="139" name="Group"/>
            <p:cNvGrpSpPr/>
            <p:nvPr/>
          </p:nvGrpSpPr>
          <p:grpSpPr>
            <a:xfrm>
              <a:off x="0" y="398519"/>
              <a:ext cx="10515600" cy="1573426"/>
              <a:chOff x="0" y="0"/>
              <a:chExt cx="10515600" cy="1573424"/>
            </a:xfrm>
          </p:grpSpPr>
          <p:sp>
            <p:nvSpPr>
              <p:cNvPr id="137" name="Rectangle"/>
              <p:cNvSpPr/>
              <p:nvPr/>
            </p:nvSpPr>
            <p:spPr>
              <a:xfrm>
                <a:off x="0" y="0"/>
                <a:ext cx="10515600" cy="1573425"/>
              </a:xfrm>
              <a:prstGeom prst="rect">
                <a:avLst/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4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8" name="'SPD': 0.196, 'DI': 0.365…"/>
              <p:cNvSpPr/>
              <p:nvPr/>
            </p:nvSpPr>
            <p:spPr>
              <a:xfrm>
                <a:off x="624103" y="370331"/>
                <a:ext cx="9267395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92023" tIns="192023" rIns="192023" bIns="192023" numCol="1" anchor="t">
                <a:spAutoFit/>
              </a:bodyPr>
              <a:lstStyle/>
              <a:p>
                <a:pPr lvl="1"/>
                <a:r>
                  <a:t>'SPD': 0.196, 'DI': 0.365</a:t>
                </a:r>
                <a:endParaRPr sz="2400">
                  <a:solidFill>
                    <a:srgbClr val="FFFFFF"/>
                  </a:solidFill>
                </a:endParaRPr>
              </a:p>
              <a:p>
                <a:pPr lvl="1"/>
                <a:r>
                  <a:t>Likelihood ratio  0.30/0.11 =2.73</a:t>
                </a:r>
              </a:p>
            </p:txBody>
          </p:sp>
        </p:grpSp>
        <p:grpSp>
          <p:nvGrpSpPr>
            <p:cNvPr id="142" name="Group"/>
            <p:cNvGrpSpPr/>
            <p:nvPr/>
          </p:nvGrpSpPr>
          <p:grpSpPr>
            <a:xfrm>
              <a:off x="525780" y="0"/>
              <a:ext cx="7360920" cy="797039"/>
              <a:chOff x="0" y="0"/>
              <a:chExt cx="7360919" cy="797038"/>
            </a:xfrm>
          </p:grpSpPr>
          <p:sp>
            <p:nvSpPr>
              <p:cNvPr id="140" name="Rounded Rectangle"/>
              <p:cNvSpPr/>
              <p:nvPr/>
            </p:nvSpPr>
            <p:spPr>
              <a:xfrm>
                <a:off x="0" y="0"/>
                <a:ext cx="7360920" cy="797039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497491"/>
                  </a:gs>
                  <a:gs pos="50000">
                    <a:srgbClr val="106287"/>
                  </a:gs>
                  <a:gs pos="100000">
                    <a:srgbClr val="09597D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1" name="Sex: 'DP': 'Female': 0.11, 'Male': 0.30"/>
              <p:cNvSpPr/>
              <p:nvPr/>
            </p:nvSpPr>
            <p:spPr>
              <a:xfrm>
                <a:off x="317132" y="398519"/>
                <a:ext cx="672665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Sex: 'DP': 'Female': 0.11, 'Male': 0.30 </a:t>
                </a:r>
              </a:p>
            </p:txBody>
          </p:sp>
        </p:grpSp>
        <p:grpSp>
          <p:nvGrpSpPr>
            <p:cNvPr id="145" name="Group"/>
            <p:cNvGrpSpPr/>
            <p:nvPr/>
          </p:nvGrpSpPr>
          <p:grpSpPr>
            <a:xfrm>
              <a:off x="0" y="2516265"/>
              <a:ext cx="10515600" cy="1573425"/>
              <a:chOff x="0" y="0"/>
              <a:chExt cx="10515600" cy="1573424"/>
            </a:xfrm>
          </p:grpSpPr>
          <p:sp>
            <p:nvSpPr>
              <p:cNvPr id="143" name="Rectangle"/>
              <p:cNvSpPr/>
              <p:nvPr/>
            </p:nvSpPr>
            <p:spPr>
              <a:xfrm>
                <a:off x="0" y="0"/>
                <a:ext cx="10515600" cy="1573425"/>
              </a:xfrm>
              <a:prstGeom prst="rect">
                <a:avLst/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4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4" name="'SPD': 0.10, 'DI': 0.61…"/>
              <p:cNvSpPr/>
              <p:nvPr/>
            </p:nvSpPr>
            <p:spPr>
              <a:xfrm>
                <a:off x="624103" y="370331"/>
                <a:ext cx="9267395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chemeClr val="accent1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92023" tIns="192023" rIns="192023" bIns="192023" numCol="1" anchor="t">
                <a:spAutoFit/>
              </a:bodyPr>
              <a:lstStyle/>
              <a:p>
                <a:pPr lvl="1"/>
                <a:r>
                  <a:t>'SPD': 0.10, 'DI': 0.61</a:t>
                </a:r>
                <a:endParaRPr sz="2400">
                  <a:solidFill>
                    <a:srgbClr val="FFFFFF"/>
                  </a:solidFill>
                </a:endParaRPr>
              </a:p>
              <a:p>
                <a:pPr lvl="1"/>
                <a:r>
                  <a:t>Likelihood ratio  0.26/0.16 =1.64</a:t>
                </a:r>
              </a:p>
            </p:txBody>
          </p:sp>
        </p:grpSp>
        <p:grpSp>
          <p:nvGrpSpPr>
            <p:cNvPr id="148" name="Group"/>
            <p:cNvGrpSpPr/>
            <p:nvPr/>
          </p:nvGrpSpPr>
          <p:grpSpPr>
            <a:xfrm>
              <a:off x="525780" y="2117744"/>
              <a:ext cx="7360920" cy="797040"/>
              <a:chOff x="0" y="0"/>
              <a:chExt cx="7360919" cy="797038"/>
            </a:xfrm>
          </p:grpSpPr>
          <p:sp>
            <p:nvSpPr>
              <p:cNvPr id="146" name="Rounded Rectangle"/>
              <p:cNvSpPr/>
              <p:nvPr/>
            </p:nvSpPr>
            <p:spPr>
              <a:xfrm>
                <a:off x="0" y="0"/>
                <a:ext cx="7360920" cy="797039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497491"/>
                  </a:gs>
                  <a:gs pos="50000">
                    <a:srgbClr val="106287"/>
                  </a:gs>
                  <a:gs pos="100000">
                    <a:srgbClr val="09597D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7" name="Race: 'DP': ‘Non-White’: 0.158, 'White': 0.259"/>
              <p:cNvSpPr/>
              <p:nvPr/>
            </p:nvSpPr>
            <p:spPr>
              <a:xfrm>
                <a:off x="317132" y="398519"/>
                <a:ext cx="672665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Race: 'DP': ‘Non-White’: 0.158, 'White': 0.259 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68680">
              <a:defRPr sz="4180"/>
            </a:lvl1pPr>
          </a:lstStyle>
          <a:p>
            <a:pPr/>
            <a:r>
              <a:t>Model comparison – Accuracy &amp; Fairness metrics</a:t>
            </a:r>
          </a:p>
        </p:txBody>
      </p:sp>
      <p:graphicFrame>
        <p:nvGraphicFramePr>
          <p:cNvPr id="152" name="Content Placeholder 3"/>
          <p:cNvGraphicFramePr/>
          <p:nvPr/>
        </p:nvGraphicFramePr>
        <p:xfrm>
          <a:off x="639540" y="1917697"/>
          <a:ext cx="10802914" cy="416528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