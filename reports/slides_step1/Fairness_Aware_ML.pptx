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1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719"/>
  </p:normalViewPr>
  <p:slideViewPr>
    <p:cSldViewPr snapToGrid="0">
      <p:cViewPr varScale="1">
        <p:scale>
          <a:sx n="91" d="100"/>
          <a:sy n="91" d="100"/>
        </p:scale>
        <p:origin x="192" y="8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Fairness</a:t>
            </a:r>
            <a:r>
              <a:rPr lang="en-US" baseline="0" dirty="0"/>
              <a:t> c</a:t>
            </a:r>
            <a:r>
              <a:rPr lang="en-US" dirty="0"/>
              <a:t>omparison across models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Raw Data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Accuracy</c:v>
                </c:pt>
                <c:pt idx="1">
                  <c:v>SPD(Sex)</c:v>
                </c:pt>
                <c:pt idx="2">
                  <c:v>DI(Sex)</c:v>
                </c:pt>
                <c:pt idx="3">
                  <c:v>SPD(Race)</c:v>
                </c:pt>
                <c:pt idx="4">
                  <c:v>DI(Race)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0.19600000000000001</c:v>
                </c:pt>
                <c:pt idx="2">
                  <c:v>0.36599999999999999</c:v>
                </c:pt>
                <c:pt idx="3">
                  <c:v>0.10100000000000001</c:v>
                </c:pt>
                <c:pt idx="4">
                  <c:v>0.61099999999999999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775-2B4F-BA88-C9F08E90F3C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Logistic Regression</c:v>
                </c:pt>
              </c:strCache>
            </c:strRef>
          </c:tx>
          <c:spPr>
            <a:solidFill>
              <a:schemeClr val="accent2"/>
            </a:solidFill>
            <a:ln w="12700">
              <a:solidFill>
                <a:schemeClr val="accent1"/>
              </a:solidFill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Accuracy</c:v>
                </c:pt>
                <c:pt idx="1">
                  <c:v>SPD(Sex)</c:v>
                </c:pt>
                <c:pt idx="2">
                  <c:v>DI(Sex)</c:v>
                </c:pt>
                <c:pt idx="3">
                  <c:v>SPD(Race)</c:v>
                </c:pt>
                <c:pt idx="4">
                  <c:v>DI(Race)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0.84799999999999998</c:v>
                </c:pt>
                <c:pt idx="1">
                  <c:v>0.17499999999999999</c:v>
                </c:pt>
                <c:pt idx="2">
                  <c:v>0.32100000000000001</c:v>
                </c:pt>
                <c:pt idx="3">
                  <c:v>8.5000000000000006E-2</c:v>
                </c:pt>
                <c:pt idx="4">
                  <c:v>0.59899999999999998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775-2B4F-BA88-C9F08E90F3C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Accuracy</c:v>
                </c:pt>
                <c:pt idx="1">
                  <c:v>SPD(Sex)</c:v>
                </c:pt>
                <c:pt idx="2">
                  <c:v>DI(Sex)</c:v>
                </c:pt>
                <c:pt idx="3">
                  <c:v>SPD(Race)</c:v>
                </c:pt>
                <c:pt idx="4">
                  <c:v>DI(Race)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0.84499999999999997</c:v>
                </c:pt>
                <c:pt idx="1">
                  <c:v>0.18099999999999999</c:v>
                </c:pt>
                <c:pt idx="2">
                  <c:v>0.34</c:v>
                </c:pt>
                <c:pt idx="3">
                  <c:v>8.8999999999999996E-2</c:v>
                </c:pt>
                <c:pt idx="4">
                  <c:v>0.60699999999999998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775-2B4F-BA88-C9F08E90F3C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XGBoost 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Accuracy</c:v>
                </c:pt>
                <c:pt idx="1">
                  <c:v>SPD(Sex)</c:v>
                </c:pt>
                <c:pt idx="2">
                  <c:v>DI(Sex)</c:v>
                </c:pt>
                <c:pt idx="3">
                  <c:v>SPD(Race)</c:v>
                </c:pt>
                <c:pt idx="4">
                  <c:v>DI(Race)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0.87</c:v>
                </c:pt>
                <c:pt idx="1">
                  <c:v>0.17499999999999999</c:v>
                </c:pt>
                <c:pt idx="2">
                  <c:v>0.33700000000000002</c:v>
                </c:pt>
                <c:pt idx="3">
                  <c:v>8.2000000000000003E-2</c:v>
                </c:pt>
                <c:pt idx="4">
                  <c:v>0.626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775-2B4F-BA88-C9F08E90F3C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38953856"/>
        <c:axId val="2053938784"/>
      </c:barChart>
      <c:catAx>
        <c:axId val="11389538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53938784"/>
        <c:auto val="1"/>
        <c:lblAlgn val="ctr"/>
        <c:lblOffset val="100"/>
        <c:noMultiLvlLbl val="0"/>
      </c:catAx>
      <c:valAx>
        <c:axId val="20539387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38953856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85625679942181143"/>
          <c:y val="2.1159468650792039E-2"/>
          <c:w val="0.1437432005781886"/>
          <c:h val="0.46656086013083781"/>
        </c:manualLayout>
      </c:layout>
      <c:overlay val="0"/>
      <c:spPr>
        <a:noFill/>
        <a:ln w="19050" cap="rnd">
          <a:solidFill>
            <a:schemeClr val="accent1"/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6_2">
  <dgm:title val=""/>
  <dgm:desc val=""/>
  <dgm:catLst>
    <dgm:cat type="accent6" pri="16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A3FFEE5-D211-4426-9A75-DE495DD546F8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C26BDDD-890D-4F8A-9A76-23E2B27FB751}">
      <dgm:prSet/>
      <dgm:spPr/>
      <dgm:t>
        <a:bodyPr/>
        <a:lstStyle/>
        <a:p>
          <a:r>
            <a:rPr lang="en-US"/>
            <a:t>Dataset - Census income dataset</a:t>
          </a:r>
        </a:p>
      </dgm:t>
    </dgm:pt>
    <dgm:pt modelId="{77948072-4B9B-4EEB-B026-9E66A768765C}" type="parTrans" cxnId="{C92F53BB-0AAD-4F1E-ADB8-A19D6CF2FCA4}">
      <dgm:prSet/>
      <dgm:spPr/>
      <dgm:t>
        <a:bodyPr/>
        <a:lstStyle/>
        <a:p>
          <a:endParaRPr lang="en-US"/>
        </a:p>
      </dgm:t>
    </dgm:pt>
    <dgm:pt modelId="{A481D582-DEF1-4C6B-94DA-1140D1758432}" type="sibTrans" cxnId="{C92F53BB-0AAD-4F1E-ADB8-A19D6CF2FCA4}">
      <dgm:prSet/>
      <dgm:spPr/>
      <dgm:t>
        <a:bodyPr/>
        <a:lstStyle/>
        <a:p>
          <a:endParaRPr lang="en-US"/>
        </a:p>
      </dgm:t>
    </dgm:pt>
    <dgm:pt modelId="{F99C08B2-F1AC-4CE4-8CC5-66BBBB4F9CFD}">
      <dgm:prSet/>
      <dgm:spPr/>
      <dgm:t>
        <a:bodyPr/>
        <a:lstStyle/>
        <a:p>
          <a:r>
            <a:rPr lang="en-US"/>
            <a:t>Sensitive variables considered – Race and Sex</a:t>
          </a:r>
        </a:p>
      </dgm:t>
    </dgm:pt>
    <dgm:pt modelId="{B43BCFD4-D27D-4B6B-BACC-A5168CE65607}" type="parTrans" cxnId="{4590C4A3-C637-419E-8C23-12DC1DC38C8B}">
      <dgm:prSet/>
      <dgm:spPr/>
      <dgm:t>
        <a:bodyPr/>
        <a:lstStyle/>
        <a:p>
          <a:endParaRPr lang="en-US"/>
        </a:p>
      </dgm:t>
    </dgm:pt>
    <dgm:pt modelId="{339FD3BE-2B1C-409C-8B7D-EA489031B239}" type="sibTrans" cxnId="{4590C4A3-C637-419E-8C23-12DC1DC38C8B}">
      <dgm:prSet/>
      <dgm:spPr/>
      <dgm:t>
        <a:bodyPr/>
        <a:lstStyle/>
        <a:p>
          <a:endParaRPr lang="en-US"/>
        </a:p>
      </dgm:t>
    </dgm:pt>
    <dgm:pt modelId="{4044C926-3EF7-0844-AE68-61C9917F8087}" type="pres">
      <dgm:prSet presAssocID="{FA3FFEE5-D211-4426-9A75-DE495DD546F8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E202D281-E574-224C-A837-DAA18347E415}" type="pres">
      <dgm:prSet presAssocID="{9C26BDDD-890D-4F8A-9A76-23E2B27FB751}" presName="hierRoot1" presStyleCnt="0"/>
      <dgm:spPr/>
    </dgm:pt>
    <dgm:pt modelId="{314E4877-0E4B-DD43-99BC-8303C13F1CBE}" type="pres">
      <dgm:prSet presAssocID="{9C26BDDD-890D-4F8A-9A76-23E2B27FB751}" presName="composite" presStyleCnt="0"/>
      <dgm:spPr/>
    </dgm:pt>
    <dgm:pt modelId="{DAF780CB-6495-E34D-9F9A-A263718C71CF}" type="pres">
      <dgm:prSet presAssocID="{9C26BDDD-890D-4F8A-9A76-23E2B27FB751}" presName="background" presStyleLbl="node0" presStyleIdx="0" presStyleCnt="2"/>
      <dgm:spPr/>
    </dgm:pt>
    <dgm:pt modelId="{D8D1B0F3-9D75-E942-9629-246AC0DF1AB0}" type="pres">
      <dgm:prSet presAssocID="{9C26BDDD-890D-4F8A-9A76-23E2B27FB751}" presName="text" presStyleLbl="fgAcc0" presStyleIdx="0" presStyleCnt="2">
        <dgm:presLayoutVars>
          <dgm:chPref val="3"/>
        </dgm:presLayoutVars>
      </dgm:prSet>
      <dgm:spPr/>
    </dgm:pt>
    <dgm:pt modelId="{4AA8A221-78B7-7343-94EE-C776E42BF0D6}" type="pres">
      <dgm:prSet presAssocID="{9C26BDDD-890D-4F8A-9A76-23E2B27FB751}" presName="hierChild2" presStyleCnt="0"/>
      <dgm:spPr/>
    </dgm:pt>
    <dgm:pt modelId="{90131100-716F-F34C-B205-8325C228DA9E}" type="pres">
      <dgm:prSet presAssocID="{F99C08B2-F1AC-4CE4-8CC5-66BBBB4F9CFD}" presName="hierRoot1" presStyleCnt="0"/>
      <dgm:spPr/>
    </dgm:pt>
    <dgm:pt modelId="{39B21CC8-0117-6747-A62D-243E12EA48A4}" type="pres">
      <dgm:prSet presAssocID="{F99C08B2-F1AC-4CE4-8CC5-66BBBB4F9CFD}" presName="composite" presStyleCnt="0"/>
      <dgm:spPr/>
    </dgm:pt>
    <dgm:pt modelId="{888C0490-F6E7-5040-A73D-BCB46175F476}" type="pres">
      <dgm:prSet presAssocID="{F99C08B2-F1AC-4CE4-8CC5-66BBBB4F9CFD}" presName="background" presStyleLbl="node0" presStyleIdx="1" presStyleCnt="2"/>
      <dgm:spPr/>
    </dgm:pt>
    <dgm:pt modelId="{280F801C-8475-0A4F-9521-9C5FC8093A6E}" type="pres">
      <dgm:prSet presAssocID="{F99C08B2-F1AC-4CE4-8CC5-66BBBB4F9CFD}" presName="text" presStyleLbl="fgAcc0" presStyleIdx="1" presStyleCnt="2">
        <dgm:presLayoutVars>
          <dgm:chPref val="3"/>
        </dgm:presLayoutVars>
      </dgm:prSet>
      <dgm:spPr/>
    </dgm:pt>
    <dgm:pt modelId="{62AB200A-2706-B842-8350-D0A6151BB5CC}" type="pres">
      <dgm:prSet presAssocID="{F99C08B2-F1AC-4CE4-8CC5-66BBBB4F9CFD}" presName="hierChild2" presStyleCnt="0"/>
      <dgm:spPr/>
    </dgm:pt>
  </dgm:ptLst>
  <dgm:cxnLst>
    <dgm:cxn modelId="{0C557E5A-CAC1-AA4B-B66C-1D8F5427EC9E}" type="presOf" srcId="{9C26BDDD-890D-4F8A-9A76-23E2B27FB751}" destId="{D8D1B0F3-9D75-E942-9629-246AC0DF1AB0}" srcOrd="0" destOrd="0" presId="urn:microsoft.com/office/officeart/2005/8/layout/hierarchy1"/>
    <dgm:cxn modelId="{2DC38E99-F21B-2643-8E30-148451D739CF}" type="presOf" srcId="{FA3FFEE5-D211-4426-9A75-DE495DD546F8}" destId="{4044C926-3EF7-0844-AE68-61C9917F8087}" srcOrd="0" destOrd="0" presId="urn:microsoft.com/office/officeart/2005/8/layout/hierarchy1"/>
    <dgm:cxn modelId="{4590C4A3-C637-419E-8C23-12DC1DC38C8B}" srcId="{FA3FFEE5-D211-4426-9A75-DE495DD546F8}" destId="{F99C08B2-F1AC-4CE4-8CC5-66BBBB4F9CFD}" srcOrd="1" destOrd="0" parTransId="{B43BCFD4-D27D-4B6B-BACC-A5168CE65607}" sibTransId="{339FD3BE-2B1C-409C-8B7D-EA489031B239}"/>
    <dgm:cxn modelId="{C92F53BB-0AAD-4F1E-ADB8-A19D6CF2FCA4}" srcId="{FA3FFEE5-D211-4426-9A75-DE495DD546F8}" destId="{9C26BDDD-890D-4F8A-9A76-23E2B27FB751}" srcOrd="0" destOrd="0" parTransId="{77948072-4B9B-4EEB-B026-9E66A768765C}" sibTransId="{A481D582-DEF1-4C6B-94DA-1140D1758432}"/>
    <dgm:cxn modelId="{64DA03F8-DDB4-7B41-AF03-ACB3F355131B}" type="presOf" srcId="{F99C08B2-F1AC-4CE4-8CC5-66BBBB4F9CFD}" destId="{280F801C-8475-0A4F-9521-9C5FC8093A6E}" srcOrd="0" destOrd="0" presId="urn:microsoft.com/office/officeart/2005/8/layout/hierarchy1"/>
    <dgm:cxn modelId="{48D86BCB-E98B-FC45-83D7-95FF439185D9}" type="presParOf" srcId="{4044C926-3EF7-0844-AE68-61C9917F8087}" destId="{E202D281-E574-224C-A837-DAA18347E415}" srcOrd="0" destOrd="0" presId="urn:microsoft.com/office/officeart/2005/8/layout/hierarchy1"/>
    <dgm:cxn modelId="{7E227592-1775-CD4E-98FA-BDC5848B5074}" type="presParOf" srcId="{E202D281-E574-224C-A837-DAA18347E415}" destId="{314E4877-0E4B-DD43-99BC-8303C13F1CBE}" srcOrd="0" destOrd="0" presId="urn:microsoft.com/office/officeart/2005/8/layout/hierarchy1"/>
    <dgm:cxn modelId="{1FC35FC6-41F5-7A4E-BCDD-0B1E915E9369}" type="presParOf" srcId="{314E4877-0E4B-DD43-99BC-8303C13F1CBE}" destId="{DAF780CB-6495-E34D-9F9A-A263718C71CF}" srcOrd="0" destOrd="0" presId="urn:microsoft.com/office/officeart/2005/8/layout/hierarchy1"/>
    <dgm:cxn modelId="{44C6AFDF-1500-2E40-AEE9-E3227C7EF2A1}" type="presParOf" srcId="{314E4877-0E4B-DD43-99BC-8303C13F1CBE}" destId="{D8D1B0F3-9D75-E942-9629-246AC0DF1AB0}" srcOrd="1" destOrd="0" presId="urn:microsoft.com/office/officeart/2005/8/layout/hierarchy1"/>
    <dgm:cxn modelId="{61548570-9BFC-7D44-A4C0-2C73AE661C0B}" type="presParOf" srcId="{E202D281-E574-224C-A837-DAA18347E415}" destId="{4AA8A221-78B7-7343-94EE-C776E42BF0D6}" srcOrd="1" destOrd="0" presId="urn:microsoft.com/office/officeart/2005/8/layout/hierarchy1"/>
    <dgm:cxn modelId="{D13738FA-792E-0E46-ADF6-BF46A0F24527}" type="presParOf" srcId="{4044C926-3EF7-0844-AE68-61C9917F8087}" destId="{90131100-716F-F34C-B205-8325C228DA9E}" srcOrd="1" destOrd="0" presId="urn:microsoft.com/office/officeart/2005/8/layout/hierarchy1"/>
    <dgm:cxn modelId="{638E9F89-CB91-D441-A81D-D523B6EEA4BC}" type="presParOf" srcId="{90131100-716F-F34C-B205-8325C228DA9E}" destId="{39B21CC8-0117-6747-A62D-243E12EA48A4}" srcOrd="0" destOrd="0" presId="urn:microsoft.com/office/officeart/2005/8/layout/hierarchy1"/>
    <dgm:cxn modelId="{9FF26926-657F-9B4F-B82E-990C55C1D2DE}" type="presParOf" srcId="{39B21CC8-0117-6747-A62D-243E12EA48A4}" destId="{888C0490-F6E7-5040-A73D-BCB46175F476}" srcOrd="0" destOrd="0" presId="urn:microsoft.com/office/officeart/2005/8/layout/hierarchy1"/>
    <dgm:cxn modelId="{BCAE855B-5B1E-3744-BD21-C5BE1B4EE922}" type="presParOf" srcId="{39B21CC8-0117-6747-A62D-243E12EA48A4}" destId="{280F801C-8475-0A4F-9521-9C5FC8093A6E}" srcOrd="1" destOrd="0" presId="urn:microsoft.com/office/officeart/2005/8/layout/hierarchy1"/>
    <dgm:cxn modelId="{F7CC8CAE-8866-E644-84CC-0326E8D6AE54}" type="presParOf" srcId="{90131100-716F-F34C-B205-8325C228DA9E}" destId="{62AB200A-2706-B842-8350-D0A6151BB5CC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BCFFC2E-E092-41CB-9B18-D797813C451A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accent6_2" csCatId="accent6" phldr="1"/>
      <dgm:spPr/>
      <dgm:t>
        <a:bodyPr/>
        <a:lstStyle/>
        <a:p>
          <a:endParaRPr lang="en-US"/>
        </a:p>
      </dgm:t>
    </dgm:pt>
    <dgm:pt modelId="{72431F60-6741-4065-B952-FDF4E9ED491E}">
      <dgm:prSet/>
      <dgm:spPr/>
      <dgm:t>
        <a:bodyPr/>
        <a:lstStyle/>
        <a:p>
          <a:pPr>
            <a:defRPr b="1"/>
          </a:pPr>
          <a:r>
            <a:rPr lang="en-US"/>
            <a:t>Demographic parity as fairness measurement method</a:t>
          </a:r>
          <a:br>
            <a:rPr lang="en-US"/>
          </a:br>
          <a:br>
            <a:rPr lang="en-US"/>
          </a:br>
          <a:r>
            <a:rPr lang="en-US" i="1"/>
            <a:t>“How often does each group receives income over the set threshold?”</a:t>
          </a:r>
        </a:p>
      </dgm:t>
    </dgm:pt>
    <dgm:pt modelId="{2D276FEC-08EC-4F58-9ED3-62C6265D52C4}" type="parTrans" cxnId="{DC43672D-CAE4-44B1-AA14-F252C56C5D65}">
      <dgm:prSet/>
      <dgm:spPr/>
      <dgm:t>
        <a:bodyPr/>
        <a:lstStyle/>
        <a:p>
          <a:endParaRPr lang="en-US"/>
        </a:p>
      </dgm:t>
    </dgm:pt>
    <dgm:pt modelId="{4E173BDB-6695-47CB-B0BC-D6A628BFD7BA}" type="sibTrans" cxnId="{DC43672D-CAE4-44B1-AA14-F252C56C5D65}">
      <dgm:prSet/>
      <dgm:spPr/>
      <dgm:t>
        <a:bodyPr/>
        <a:lstStyle/>
        <a:p>
          <a:endParaRPr lang="en-US"/>
        </a:p>
      </dgm:t>
    </dgm:pt>
    <dgm:pt modelId="{A2F550E4-7C17-4F1B-AFD2-DD6EF564FA4E}">
      <dgm:prSet/>
      <dgm:spPr/>
      <dgm:t>
        <a:bodyPr/>
        <a:lstStyle/>
        <a:p>
          <a:pPr>
            <a:defRPr b="1"/>
          </a:pPr>
          <a:r>
            <a:rPr lang="en-US"/>
            <a:t>Metrics:</a:t>
          </a:r>
        </a:p>
      </dgm:t>
    </dgm:pt>
    <dgm:pt modelId="{E57098C8-A422-4729-89F1-5DC5CED7AA94}" type="parTrans" cxnId="{F88CE250-3A7A-4B12-A334-31C5647F26D3}">
      <dgm:prSet/>
      <dgm:spPr/>
      <dgm:t>
        <a:bodyPr/>
        <a:lstStyle/>
        <a:p>
          <a:endParaRPr lang="en-US"/>
        </a:p>
      </dgm:t>
    </dgm:pt>
    <dgm:pt modelId="{2E681DDC-B100-4627-83BB-770E546E32E8}" type="sibTrans" cxnId="{F88CE250-3A7A-4B12-A334-31C5647F26D3}">
      <dgm:prSet/>
      <dgm:spPr/>
      <dgm:t>
        <a:bodyPr/>
        <a:lstStyle/>
        <a:p>
          <a:endParaRPr lang="en-US"/>
        </a:p>
      </dgm:t>
    </dgm:pt>
    <dgm:pt modelId="{C8537B3B-0682-42F0-BB1A-1C00763164E2}">
      <dgm:prSet custT="1"/>
      <dgm:spPr/>
      <dgm:t>
        <a:bodyPr/>
        <a:lstStyle/>
        <a:p>
          <a:r>
            <a:rPr lang="en-US" sz="1400" dirty="0"/>
            <a:t>Statistical parity difference (SPD)</a:t>
          </a:r>
          <a:br>
            <a:rPr lang="en-US" sz="1400" dirty="0"/>
          </a:br>
          <a:r>
            <a:rPr lang="en-US" sz="1400" dirty="0"/>
            <a:t>“Gap in the positive outcome between privileged vs unprivileged groups”</a:t>
          </a:r>
        </a:p>
      </dgm:t>
    </dgm:pt>
    <dgm:pt modelId="{1795D765-C27C-4FE7-A40B-F1079AAA691B}" type="parTrans" cxnId="{4609B296-9EC9-4390-ABA1-1ED230ACA98A}">
      <dgm:prSet/>
      <dgm:spPr/>
      <dgm:t>
        <a:bodyPr/>
        <a:lstStyle/>
        <a:p>
          <a:endParaRPr lang="en-US"/>
        </a:p>
      </dgm:t>
    </dgm:pt>
    <dgm:pt modelId="{33C3FA09-267B-4A16-A08D-13B034B97675}" type="sibTrans" cxnId="{4609B296-9EC9-4390-ABA1-1ED230ACA98A}">
      <dgm:prSet/>
      <dgm:spPr/>
      <dgm:t>
        <a:bodyPr/>
        <a:lstStyle/>
        <a:p>
          <a:endParaRPr lang="en-US"/>
        </a:p>
      </dgm:t>
    </dgm:pt>
    <dgm:pt modelId="{BD1B46FE-504B-4A8E-8133-47ABAEBAEE47}">
      <dgm:prSet custT="1"/>
      <dgm:spPr/>
      <dgm:t>
        <a:bodyPr/>
        <a:lstStyle/>
        <a:p>
          <a:r>
            <a:rPr lang="en-US" sz="1400" dirty="0"/>
            <a:t>Disparate Impact (DI)</a:t>
          </a:r>
          <a:br>
            <a:rPr lang="en-US" sz="1400" dirty="0"/>
          </a:br>
          <a:r>
            <a:rPr lang="en-US" sz="1400" i="1" dirty="0"/>
            <a:t>“Ratio – privileged vs unprivileged</a:t>
          </a:r>
          <a:r>
            <a:rPr lang="en-US" sz="1100" i="1" dirty="0"/>
            <a:t>”</a:t>
          </a:r>
        </a:p>
      </dgm:t>
    </dgm:pt>
    <dgm:pt modelId="{10330D27-6F70-4294-88F7-C6A6506492CF}" type="parTrans" cxnId="{F995FE48-0CBB-45E7-BB42-148AED59372B}">
      <dgm:prSet/>
      <dgm:spPr/>
      <dgm:t>
        <a:bodyPr/>
        <a:lstStyle/>
        <a:p>
          <a:endParaRPr lang="en-US"/>
        </a:p>
      </dgm:t>
    </dgm:pt>
    <dgm:pt modelId="{074EA227-FF3A-413E-8F90-A5B17825F901}" type="sibTrans" cxnId="{F995FE48-0CBB-45E7-BB42-148AED59372B}">
      <dgm:prSet/>
      <dgm:spPr/>
      <dgm:t>
        <a:bodyPr/>
        <a:lstStyle/>
        <a:p>
          <a:endParaRPr lang="en-US"/>
        </a:p>
      </dgm:t>
    </dgm:pt>
    <dgm:pt modelId="{76F23118-DA78-40A2-8A5D-325BD1E8D9EF}" type="pres">
      <dgm:prSet presAssocID="{ABCFFC2E-E092-41CB-9B18-D797813C451A}" presName="root" presStyleCnt="0">
        <dgm:presLayoutVars>
          <dgm:dir/>
          <dgm:resizeHandles val="exact"/>
        </dgm:presLayoutVars>
      </dgm:prSet>
      <dgm:spPr/>
    </dgm:pt>
    <dgm:pt modelId="{82183E45-37B2-489E-9518-F37CCA5DD69C}" type="pres">
      <dgm:prSet presAssocID="{72431F60-6741-4065-B952-FDF4E9ED491E}" presName="compNode" presStyleCnt="0"/>
      <dgm:spPr/>
    </dgm:pt>
    <dgm:pt modelId="{F6A89A3C-B49C-4595-BFE8-83B576D8469E}" type="pres">
      <dgm:prSet presAssocID="{72431F60-6741-4065-B952-FDF4E9ED491E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ales of Justice"/>
        </a:ext>
      </dgm:extLst>
    </dgm:pt>
    <dgm:pt modelId="{8DDCD919-92FD-40F1-9A7F-C687F9BBE3CF}" type="pres">
      <dgm:prSet presAssocID="{72431F60-6741-4065-B952-FDF4E9ED491E}" presName="iconSpace" presStyleCnt="0"/>
      <dgm:spPr/>
    </dgm:pt>
    <dgm:pt modelId="{8C63653D-98C2-4949-AFBE-E3D4864802C0}" type="pres">
      <dgm:prSet presAssocID="{72431F60-6741-4065-B952-FDF4E9ED491E}" presName="parTx" presStyleLbl="revTx" presStyleIdx="0" presStyleCnt="4">
        <dgm:presLayoutVars>
          <dgm:chMax val="0"/>
          <dgm:chPref val="0"/>
        </dgm:presLayoutVars>
      </dgm:prSet>
      <dgm:spPr/>
    </dgm:pt>
    <dgm:pt modelId="{25FC8191-F77F-480D-B903-76132571B82B}" type="pres">
      <dgm:prSet presAssocID="{72431F60-6741-4065-B952-FDF4E9ED491E}" presName="txSpace" presStyleCnt="0"/>
      <dgm:spPr/>
    </dgm:pt>
    <dgm:pt modelId="{D2E867B8-0F56-42AE-9CF8-0E9CEF783DAD}" type="pres">
      <dgm:prSet presAssocID="{72431F60-6741-4065-B952-FDF4E9ED491E}" presName="desTx" presStyleLbl="revTx" presStyleIdx="1" presStyleCnt="4">
        <dgm:presLayoutVars/>
      </dgm:prSet>
      <dgm:spPr/>
    </dgm:pt>
    <dgm:pt modelId="{903D6DC7-DD27-4297-9D60-E8E2F01D6DCF}" type="pres">
      <dgm:prSet presAssocID="{4E173BDB-6695-47CB-B0BC-D6A628BFD7BA}" presName="sibTrans" presStyleCnt="0"/>
      <dgm:spPr/>
    </dgm:pt>
    <dgm:pt modelId="{56979ACA-CE68-4A80-BD27-A12B3059D92C}" type="pres">
      <dgm:prSet presAssocID="{A2F550E4-7C17-4F1B-AFD2-DD6EF564FA4E}" presName="compNode" presStyleCnt="0"/>
      <dgm:spPr/>
    </dgm:pt>
    <dgm:pt modelId="{2C6C09BE-9CD3-4ECA-BAA3-0B4578A103A1}" type="pres">
      <dgm:prSet presAssocID="{A2F550E4-7C17-4F1B-AFD2-DD6EF564FA4E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AA2F73EE-339E-417F-8997-886FDDEC1E6C}" type="pres">
      <dgm:prSet presAssocID="{A2F550E4-7C17-4F1B-AFD2-DD6EF564FA4E}" presName="iconSpace" presStyleCnt="0"/>
      <dgm:spPr/>
    </dgm:pt>
    <dgm:pt modelId="{056BCF27-9377-4DF2-ACE0-AA36F5901336}" type="pres">
      <dgm:prSet presAssocID="{A2F550E4-7C17-4F1B-AFD2-DD6EF564FA4E}" presName="parTx" presStyleLbl="revTx" presStyleIdx="2" presStyleCnt="4">
        <dgm:presLayoutVars>
          <dgm:chMax val="0"/>
          <dgm:chPref val="0"/>
        </dgm:presLayoutVars>
      </dgm:prSet>
      <dgm:spPr/>
    </dgm:pt>
    <dgm:pt modelId="{785EC7BE-3887-4730-9EA0-7ADDE042A741}" type="pres">
      <dgm:prSet presAssocID="{A2F550E4-7C17-4F1B-AFD2-DD6EF564FA4E}" presName="txSpace" presStyleCnt="0"/>
      <dgm:spPr/>
    </dgm:pt>
    <dgm:pt modelId="{0CB5D09D-09F6-4F99-ADBB-A8B8B4545B6E}" type="pres">
      <dgm:prSet presAssocID="{A2F550E4-7C17-4F1B-AFD2-DD6EF564FA4E}" presName="desTx" presStyleLbl="revTx" presStyleIdx="3" presStyleCnt="4">
        <dgm:presLayoutVars/>
      </dgm:prSet>
      <dgm:spPr/>
    </dgm:pt>
  </dgm:ptLst>
  <dgm:cxnLst>
    <dgm:cxn modelId="{DC43672D-CAE4-44B1-AA14-F252C56C5D65}" srcId="{ABCFFC2E-E092-41CB-9B18-D797813C451A}" destId="{72431F60-6741-4065-B952-FDF4E9ED491E}" srcOrd="0" destOrd="0" parTransId="{2D276FEC-08EC-4F58-9ED3-62C6265D52C4}" sibTransId="{4E173BDB-6695-47CB-B0BC-D6A628BFD7BA}"/>
    <dgm:cxn modelId="{0BEF673C-DF7B-044F-B952-C685A37D0F85}" type="presOf" srcId="{BD1B46FE-504B-4A8E-8133-47ABAEBAEE47}" destId="{0CB5D09D-09F6-4F99-ADBB-A8B8B4545B6E}" srcOrd="0" destOrd="1" presId="urn:microsoft.com/office/officeart/2018/5/layout/CenteredIconLabelDescriptionList"/>
    <dgm:cxn modelId="{F995FE48-0CBB-45E7-BB42-148AED59372B}" srcId="{A2F550E4-7C17-4F1B-AFD2-DD6EF564FA4E}" destId="{BD1B46FE-504B-4A8E-8133-47ABAEBAEE47}" srcOrd="1" destOrd="0" parTransId="{10330D27-6F70-4294-88F7-C6A6506492CF}" sibTransId="{074EA227-FF3A-413E-8F90-A5B17825F901}"/>
    <dgm:cxn modelId="{F88CE250-3A7A-4B12-A334-31C5647F26D3}" srcId="{ABCFFC2E-E092-41CB-9B18-D797813C451A}" destId="{A2F550E4-7C17-4F1B-AFD2-DD6EF564FA4E}" srcOrd="1" destOrd="0" parTransId="{E57098C8-A422-4729-89F1-5DC5CED7AA94}" sibTransId="{2E681DDC-B100-4627-83BB-770E546E32E8}"/>
    <dgm:cxn modelId="{920FF37C-3B3A-614B-BF59-122E9606287F}" type="presOf" srcId="{ABCFFC2E-E092-41CB-9B18-D797813C451A}" destId="{76F23118-DA78-40A2-8A5D-325BD1E8D9EF}" srcOrd="0" destOrd="0" presId="urn:microsoft.com/office/officeart/2018/5/layout/CenteredIconLabelDescriptionList"/>
    <dgm:cxn modelId="{1CD1548E-C6B9-C847-A451-3F18D702704F}" type="presOf" srcId="{72431F60-6741-4065-B952-FDF4E9ED491E}" destId="{8C63653D-98C2-4949-AFBE-E3D4864802C0}" srcOrd="0" destOrd="0" presId="urn:microsoft.com/office/officeart/2018/5/layout/CenteredIconLabelDescriptionList"/>
    <dgm:cxn modelId="{4609B296-9EC9-4390-ABA1-1ED230ACA98A}" srcId="{A2F550E4-7C17-4F1B-AFD2-DD6EF564FA4E}" destId="{C8537B3B-0682-42F0-BB1A-1C00763164E2}" srcOrd="0" destOrd="0" parTransId="{1795D765-C27C-4FE7-A40B-F1079AAA691B}" sibTransId="{33C3FA09-267B-4A16-A08D-13B034B97675}"/>
    <dgm:cxn modelId="{26822DD0-79A5-D24D-B321-5E6E0AA59BD6}" type="presOf" srcId="{A2F550E4-7C17-4F1B-AFD2-DD6EF564FA4E}" destId="{056BCF27-9377-4DF2-ACE0-AA36F5901336}" srcOrd="0" destOrd="0" presId="urn:microsoft.com/office/officeart/2018/5/layout/CenteredIconLabelDescriptionList"/>
    <dgm:cxn modelId="{24A902F8-6A4D-A343-B7C7-703C2EDED1DA}" type="presOf" srcId="{C8537B3B-0682-42F0-BB1A-1C00763164E2}" destId="{0CB5D09D-09F6-4F99-ADBB-A8B8B4545B6E}" srcOrd="0" destOrd="0" presId="urn:microsoft.com/office/officeart/2018/5/layout/CenteredIconLabelDescriptionList"/>
    <dgm:cxn modelId="{F2F82D19-77FE-A049-88CF-33D769C2035A}" type="presParOf" srcId="{76F23118-DA78-40A2-8A5D-325BD1E8D9EF}" destId="{82183E45-37B2-489E-9518-F37CCA5DD69C}" srcOrd="0" destOrd="0" presId="urn:microsoft.com/office/officeart/2018/5/layout/CenteredIconLabelDescriptionList"/>
    <dgm:cxn modelId="{6702C6CA-ACF0-3C4C-8AA4-1DEF674F023F}" type="presParOf" srcId="{82183E45-37B2-489E-9518-F37CCA5DD69C}" destId="{F6A89A3C-B49C-4595-BFE8-83B576D8469E}" srcOrd="0" destOrd="0" presId="urn:microsoft.com/office/officeart/2018/5/layout/CenteredIconLabelDescriptionList"/>
    <dgm:cxn modelId="{A6893E90-EFF6-A641-A301-725875AFBF7F}" type="presParOf" srcId="{82183E45-37B2-489E-9518-F37CCA5DD69C}" destId="{8DDCD919-92FD-40F1-9A7F-C687F9BBE3CF}" srcOrd="1" destOrd="0" presId="urn:microsoft.com/office/officeart/2018/5/layout/CenteredIconLabelDescriptionList"/>
    <dgm:cxn modelId="{45B60D31-2957-AF49-8938-0DE6C6F72083}" type="presParOf" srcId="{82183E45-37B2-489E-9518-F37CCA5DD69C}" destId="{8C63653D-98C2-4949-AFBE-E3D4864802C0}" srcOrd="2" destOrd="0" presId="urn:microsoft.com/office/officeart/2018/5/layout/CenteredIconLabelDescriptionList"/>
    <dgm:cxn modelId="{7DD249B0-D9D7-8D49-95A4-6D8A94B3793E}" type="presParOf" srcId="{82183E45-37B2-489E-9518-F37CCA5DD69C}" destId="{25FC8191-F77F-480D-B903-76132571B82B}" srcOrd="3" destOrd="0" presId="urn:microsoft.com/office/officeart/2018/5/layout/CenteredIconLabelDescriptionList"/>
    <dgm:cxn modelId="{AB1F3E20-3E17-F84F-BE7E-5BFF9D8A67E8}" type="presParOf" srcId="{82183E45-37B2-489E-9518-F37CCA5DD69C}" destId="{D2E867B8-0F56-42AE-9CF8-0E9CEF783DAD}" srcOrd="4" destOrd="0" presId="urn:microsoft.com/office/officeart/2018/5/layout/CenteredIconLabelDescriptionList"/>
    <dgm:cxn modelId="{3DAC82A3-89F9-7B49-B4EA-58F1EB4A78B2}" type="presParOf" srcId="{76F23118-DA78-40A2-8A5D-325BD1E8D9EF}" destId="{903D6DC7-DD27-4297-9D60-E8E2F01D6DCF}" srcOrd="1" destOrd="0" presId="urn:microsoft.com/office/officeart/2018/5/layout/CenteredIconLabelDescriptionList"/>
    <dgm:cxn modelId="{ACAEF917-9E1D-4D40-97FE-7FAB5B0DB543}" type="presParOf" srcId="{76F23118-DA78-40A2-8A5D-325BD1E8D9EF}" destId="{56979ACA-CE68-4A80-BD27-A12B3059D92C}" srcOrd="2" destOrd="0" presId="urn:microsoft.com/office/officeart/2018/5/layout/CenteredIconLabelDescriptionList"/>
    <dgm:cxn modelId="{7055ABDE-699A-5F46-891E-2446B83CBC58}" type="presParOf" srcId="{56979ACA-CE68-4A80-BD27-A12B3059D92C}" destId="{2C6C09BE-9CD3-4ECA-BAA3-0B4578A103A1}" srcOrd="0" destOrd="0" presId="urn:microsoft.com/office/officeart/2018/5/layout/CenteredIconLabelDescriptionList"/>
    <dgm:cxn modelId="{53A9783C-6B0C-E54B-A556-A14D51D12F1E}" type="presParOf" srcId="{56979ACA-CE68-4A80-BD27-A12B3059D92C}" destId="{AA2F73EE-339E-417F-8997-886FDDEC1E6C}" srcOrd="1" destOrd="0" presId="urn:microsoft.com/office/officeart/2018/5/layout/CenteredIconLabelDescriptionList"/>
    <dgm:cxn modelId="{C370427A-6CF9-CF4B-B021-7646123E3B78}" type="presParOf" srcId="{56979ACA-CE68-4A80-BD27-A12B3059D92C}" destId="{056BCF27-9377-4DF2-ACE0-AA36F5901336}" srcOrd="2" destOrd="0" presId="urn:microsoft.com/office/officeart/2018/5/layout/CenteredIconLabelDescriptionList"/>
    <dgm:cxn modelId="{6F461A76-7121-FB4C-AEC8-CBF9C10E6AA6}" type="presParOf" srcId="{56979ACA-CE68-4A80-BD27-A12B3059D92C}" destId="{785EC7BE-3887-4730-9EA0-7ADDE042A741}" srcOrd="3" destOrd="0" presId="urn:microsoft.com/office/officeart/2018/5/layout/CenteredIconLabelDescriptionList"/>
    <dgm:cxn modelId="{69829C00-1FE1-EF4B-A7B8-6BE42F0F2752}" type="presParOf" srcId="{56979ACA-CE68-4A80-BD27-A12B3059D92C}" destId="{0CB5D09D-09F6-4F99-ADBB-A8B8B4545B6E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686746D-24FC-4EE6-A312-C236D0CB3E80}" type="doc">
      <dgm:prSet loTypeId="urn:microsoft.com/office/officeart/2005/8/layout/list1" loCatId="list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833DEF1-A9A5-4FB7-BBCA-3DA27874B4FB}">
      <dgm:prSet/>
      <dgm:spPr/>
      <dgm:t>
        <a:bodyPr/>
        <a:lstStyle/>
        <a:p>
          <a:r>
            <a:rPr lang="en-US" dirty="0"/>
            <a:t>Sex: 'DP': 'Female': 0.11, 'Male': 0.30 </a:t>
          </a:r>
        </a:p>
      </dgm:t>
    </dgm:pt>
    <dgm:pt modelId="{9EB454BC-721E-472A-A6A8-EA58169D7915}" type="parTrans" cxnId="{FBE5AA94-8328-42BA-998C-CEB0848C4490}">
      <dgm:prSet/>
      <dgm:spPr/>
      <dgm:t>
        <a:bodyPr/>
        <a:lstStyle/>
        <a:p>
          <a:endParaRPr lang="en-US"/>
        </a:p>
      </dgm:t>
    </dgm:pt>
    <dgm:pt modelId="{AF25A160-3078-4F19-A4DB-EEC71EFBAE16}" type="sibTrans" cxnId="{FBE5AA94-8328-42BA-998C-CEB0848C4490}">
      <dgm:prSet/>
      <dgm:spPr/>
      <dgm:t>
        <a:bodyPr/>
        <a:lstStyle/>
        <a:p>
          <a:endParaRPr lang="en-US"/>
        </a:p>
      </dgm:t>
    </dgm:pt>
    <dgm:pt modelId="{E2330DCA-BD10-4C47-83A0-6D6338A7213F}">
      <dgm:prSet/>
      <dgm:spPr/>
      <dgm:t>
        <a:bodyPr/>
        <a:lstStyle/>
        <a:p>
          <a:r>
            <a:rPr lang="en-US" dirty="0"/>
            <a:t>'SPD': 0.196, 'DI': 0.365</a:t>
          </a:r>
        </a:p>
      </dgm:t>
    </dgm:pt>
    <dgm:pt modelId="{532C3DC2-FB0F-4343-ADB2-66675114BF33}" type="parTrans" cxnId="{AD2E7CB1-22DF-4A5E-B510-A233BB8DAE8D}">
      <dgm:prSet/>
      <dgm:spPr/>
      <dgm:t>
        <a:bodyPr/>
        <a:lstStyle/>
        <a:p>
          <a:endParaRPr lang="en-US"/>
        </a:p>
      </dgm:t>
    </dgm:pt>
    <dgm:pt modelId="{4BB6ACED-930C-4792-A6EF-3D23B3E7D9D0}" type="sibTrans" cxnId="{AD2E7CB1-22DF-4A5E-B510-A233BB8DAE8D}">
      <dgm:prSet/>
      <dgm:spPr/>
      <dgm:t>
        <a:bodyPr/>
        <a:lstStyle/>
        <a:p>
          <a:endParaRPr lang="en-US"/>
        </a:p>
      </dgm:t>
    </dgm:pt>
    <dgm:pt modelId="{77CB4A07-0993-4AB7-848D-7FA6520382DB}">
      <dgm:prSet/>
      <dgm:spPr/>
      <dgm:t>
        <a:bodyPr/>
        <a:lstStyle/>
        <a:p>
          <a:r>
            <a:rPr lang="en-US" dirty="0"/>
            <a:t>Race: 'DP': ‘Non-White’: 0.158, 'White': 0.259 </a:t>
          </a:r>
        </a:p>
      </dgm:t>
    </dgm:pt>
    <dgm:pt modelId="{74CF096E-2556-4764-AEC9-44DD086F17ED}" type="parTrans" cxnId="{27F7CA75-148B-4763-B210-5D9FB5EC11B9}">
      <dgm:prSet/>
      <dgm:spPr/>
      <dgm:t>
        <a:bodyPr/>
        <a:lstStyle/>
        <a:p>
          <a:endParaRPr lang="en-US"/>
        </a:p>
      </dgm:t>
    </dgm:pt>
    <dgm:pt modelId="{88162808-C5F3-4800-8011-7CB6C63FF04B}" type="sibTrans" cxnId="{27F7CA75-148B-4763-B210-5D9FB5EC11B9}">
      <dgm:prSet/>
      <dgm:spPr/>
      <dgm:t>
        <a:bodyPr/>
        <a:lstStyle/>
        <a:p>
          <a:endParaRPr lang="en-US"/>
        </a:p>
      </dgm:t>
    </dgm:pt>
    <dgm:pt modelId="{A3527506-2C8C-4C98-A054-B9E26F14E0E8}">
      <dgm:prSet/>
      <dgm:spPr/>
      <dgm:t>
        <a:bodyPr/>
        <a:lstStyle/>
        <a:p>
          <a:r>
            <a:rPr lang="en-US" dirty="0"/>
            <a:t>'SPD': 0.10, 'DI': 0.61</a:t>
          </a:r>
        </a:p>
      </dgm:t>
    </dgm:pt>
    <dgm:pt modelId="{A817F095-3644-442E-8360-4E4D16939685}" type="sibTrans" cxnId="{B9E969AB-8325-4122-A4BD-825646E4F603}">
      <dgm:prSet/>
      <dgm:spPr/>
      <dgm:t>
        <a:bodyPr/>
        <a:lstStyle/>
        <a:p>
          <a:endParaRPr lang="en-US"/>
        </a:p>
      </dgm:t>
    </dgm:pt>
    <dgm:pt modelId="{AE5AF24D-C821-436A-9BF5-F83D7DD989CF}" type="parTrans" cxnId="{B9E969AB-8325-4122-A4BD-825646E4F603}">
      <dgm:prSet/>
      <dgm:spPr/>
      <dgm:t>
        <a:bodyPr/>
        <a:lstStyle/>
        <a:p>
          <a:endParaRPr lang="en-US"/>
        </a:p>
      </dgm:t>
    </dgm:pt>
    <dgm:pt modelId="{45F7C71C-38DA-444A-BF6F-E6E172F8E594}">
      <dgm:prSet/>
      <dgm:spPr/>
      <dgm:t>
        <a:bodyPr/>
        <a:lstStyle/>
        <a:p>
          <a:r>
            <a:rPr lang="en-US" dirty="0"/>
            <a:t>Likelihood ratio  0.26/0.16 =1.64</a:t>
          </a:r>
        </a:p>
      </dgm:t>
    </dgm:pt>
    <dgm:pt modelId="{A5DDA237-3CCA-B04D-A4C4-845C1DE79316}" type="parTrans" cxnId="{46B38662-1FCE-4546-9119-D30256C16029}">
      <dgm:prSet/>
      <dgm:spPr/>
      <dgm:t>
        <a:bodyPr/>
        <a:lstStyle/>
        <a:p>
          <a:endParaRPr lang="en-US"/>
        </a:p>
      </dgm:t>
    </dgm:pt>
    <dgm:pt modelId="{9B651641-C719-3046-8CD0-FC4FDE50C269}" type="sibTrans" cxnId="{46B38662-1FCE-4546-9119-D30256C16029}">
      <dgm:prSet/>
      <dgm:spPr/>
      <dgm:t>
        <a:bodyPr/>
        <a:lstStyle/>
        <a:p>
          <a:endParaRPr lang="en-US"/>
        </a:p>
      </dgm:t>
    </dgm:pt>
    <dgm:pt modelId="{8A414551-C19C-B145-813B-28E92E31673A}">
      <dgm:prSet/>
      <dgm:spPr/>
      <dgm:t>
        <a:bodyPr/>
        <a:lstStyle/>
        <a:p>
          <a:r>
            <a:rPr lang="en-US" dirty="0"/>
            <a:t>Likelihood ratio  0.30/0.11 =2.73</a:t>
          </a:r>
        </a:p>
      </dgm:t>
    </dgm:pt>
    <dgm:pt modelId="{1DA1ED1B-1572-7A41-89A8-50593210C8E1}" type="parTrans" cxnId="{0740BF92-0333-B842-8A17-6C9A6DC683A6}">
      <dgm:prSet/>
      <dgm:spPr/>
      <dgm:t>
        <a:bodyPr/>
        <a:lstStyle/>
        <a:p>
          <a:endParaRPr lang="en-US"/>
        </a:p>
      </dgm:t>
    </dgm:pt>
    <dgm:pt modelId="{C05148F5-141C-D847-8778-15337C32CDD7}" type="sibTrans" cxnId="{0740BF92-0333-B842-8A17-6C9A6DC683A6}">
      <dgm:prSet/>
      <dgm:spPr/>
      <dgm:t>
        <a:bodyPr/>
        <a:lstStyle/>
        <a:p>
          <a:endParaRPr lang="en-US"/>
        </a:p>
      </dgm:t>
    </dgm:pt>
    <dgm:pt modelId="{6A4661F3-D1FF-D845-BA03-94C8BA118402}" type="pres">
      <dgm:prSet presAssocID="{B686746D-24FC-4EE6-A312-C236D0CB3E80}" presName="linear" presStyleCnt="0">
        <dgm:presLayoutVars>
          <dgm:dir/>
          <dgm:animLvl val="lvl"/>
          <dgm:resizeHandles val="exact"/>
        </dgm:presLayoutVars>
      </dgm:prSet>
      <dgm:spPr/>
    </dgm:pt>
    <dgm:pt modelId="{0C22D4DE-5650-BE48-8137-AC2CCA30904F}" type="pres">
      <dgm:prSet presAssocID="{A833DEF1-A9A5-4FB7-BBCA-3DA27874B4FB}" presName="parentLin" presStyleCnt="0"/>
      <dgm:spPr/>
    </dgm:pt>
    <dgm:pt modelId="{B57EF37E-C63E-4B4F-8AB9-5A8FB9DDFFE6}" type="pres">
      <dgm:prSet presAssocID="{A833DEF1-A9A5-4FB7-BBCA-3DA27874B4FB}" presName="parentLeftMargin" presStyleLbl="node1" presStyleIdx="0" presStyleCnt="2"/>
      <dgm:spPr/>
    </dgm:pt>
    <dgm:pt modelId="{647AC24B-5990-B04A-8967-DC3600BFC63F}" type="pres">
      <dgm:prSet presAssocID="{A833DEF1-A9A5-4FB7-BBCA-3DA27874B4FB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0AEFB117-94B0-C241-BA0E-A5CB428F7BE7}" type="pres">
      <dgm:prSet presAssocID="{A833DEF1-A9A5-4FB7-BBCA-3DA27874B4FB}" presName="negativeSpace" presStyleCnt="0"/>
      <dgm:spPr/>
    </dgm:pt>
    <dgm:pt modelId="{97F8941D-9508-F54D-853B-925D9E9113B3}" type="pres">
      <dgm:prSet presAssocID="{A833DEF1-A9A5-4FB7-BBCA-3DA27874B4FB}" presName="childText" presStyleLbl="conFgAcc1" presStyleIdx="0" presStyleCnt="2">
        <dgm:presLayoutVars>
          <dgm:bulletEnabled val="1"/>
        </dgm:presLayoutVars>
      </dgm:prSet>
      <dgm:spPr/>
    </dgm:pt>
    <dgm:pt modelId="{57624ECA-F8BC-3143-BA41-178E97114BCD}" type="pres">
      <dgm:prSet presAssocID="{AF25A160-3078-4F19-A4DB-EEC71EFBAE16}" presName="spaceBetweenRectangles" presStyleCnt="0"/>
      <dgm:spPr/>
    </dgm:pt>
    <dgm:pt modelId="{DADCFCBD-220D-4E4E-AE45-9AAE32EF3CCA}" type="pres">
      <dgm:prSet presAssocID="{77CB4A07-0993-4AB7-848D-7FA6520382DB}" presName="parentLin" presStyleCnt="0"/>
      <dgm:spPr/>
    </dgm:pt>
    <dgm:pt modelId="{C0059A76-FBEC-264E-9099-AD2B86215AD1}" type="pres">
      <dgm:prSet presAssocID="{77CB4A07-0993-4AB7-848D-7FA6520382DB}" presName="parentLeftMargin" presStyleLbl="node1" presStyleIdx="0" presStyleCnt="2"/>
      <dgm:spPr/>
    </dgm:pt>
    <dgm:pt modelId="{A919EFAE-CEE6-D54A-A0E8-F97F8A422D41}" type="pres">
      <dgm:prSet presAssocID="{77CB4A07-0993-4AB7-848D-7FA6520382DB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A9DEC3FA-748E-3A47-8C52-D5D1D5B56ABC}" type="pres">
      <dgm:prSet presAssocID="{77CB4A07-0993-4AB7-848D-7FA6520382DB}" presName="negativeSpace" presStyleCnt="0"/>
      <dgm:spPr/>
    </dgm:pt>
    <dgm:pt modelId="{5CA632B3-B267-5A43-84D5-A2B422B322FB}" type="pres">
      <dgm:prSet presAssocID="{77CB4A07-0993-4AB7-848D-7FA6520382DB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97492228-3963-A440-8268-33B396E6C277}" type="presOf" srcId="{77CB4A07-0993-4AB7-848D-7FA6520382DB}" destId="{A919EFAE-CEE6-D54A-A0E8-F97F8A422D41}" srcOrd="1" destOrd="0" presId="urn:microsoft.com/office/officeart/2005/8/layout/list1"/>
    <dgm:cxn modelId="{B60E9E5C-04B9-B241-8919-DFF1CA12FC66}" type="presOf" srcId="{A833DEF1-A9A5-4FB7-BBCA-3DA27874B4FB}" destId="{647AC24B-5990-B04A-8967-DC3600BFC63F}" srcOrd="1" destOrd="0" presId="urn:microsoft.com/office/officeart/2005/8/layout/list1"/>
    <dgm:cxn modelId="{B1277F5E-AB87-374A-BADD-10239856AA27}" type="presOf" srcId="{B686746D-24FC-4EE6-A312-C236D0CB3E80}" destId="{6A4661F3-D1FF-D845-BA03-94C8BA118402}" srcOrd="0" destOrd="0" presId="urn:microsoft.com/office/officeart/2005/8/layout/list1"/>
    <dgm:cxn modelId="{46B38662-1FCE-4546-9119-D30256C16029}" srcId="{77CB4A07-0993-4AB7-848D-7FA6520382DB}" destId="{45F7C71C-38DA-444A-BF6F-E6E172F8E594}" srcOrd="1" destOrd="0" parTransId="{A5DDA237-3CCA-B04D-A4C4-845C1DE79316}" sibTransId="{9B651641-C719-3046-8CD0-FC4FDE50C269}"/>
    <dgm:cxn modelId="{4585C56F-B61E-EC4C-B6C8-1D93C565248D}" type="presOf" srcId="{E2330DCA-BD10-4C47-83A0-6D6338A7213F}" destId="{97F8941D-9508-F54D-853B-925D9E9113B3}" srcOrd="0" destOrd="0" presId="urn:microsoft.com/office/officeart/2005/8/layout/list1"/>
    <dgm:cxn modelId="{27F7CA75-148B-4763-B210-5D9FB5EC11B9}" srcId="{B686746D-24FC-4EE6-A312-C236D0CB3E80}" destId="{77CB4A07-0993-4AB7-848D-7FA6520382DB}" srcOrd="1" destOrd="0" parTransId="{74CF096E-2556-4764-AEC9-44DD086F17ED}" sibTransId="{88162808-C5F3-4800-8011-7CB6C63FF04B}"/>
    <dgm:cxn modelId="{924DD178-4108-1D46-8BF1-E1BFCCFD9AC4}" type="presOf" srcId="{77CB4A07-0993-4AB7-848D-7FA6520382DB}" destId="{C0059A76-FBEC-264E-9099-AD2B86215AD1}" srcOrd="0" destOrd="0" presId="urn:microsoft.com/office/officeart/2005/8/layout/list1"/>
    <dgm:cxn modelId="{0740BF92-0333-B842-8A17-6C9A6DC683A6}" srcId="{A833DEF1-A9A5-4FB7-BBCA-3DA27874B4FB}" destId="{8A414551-C19C-B145-813B-28E92E31673A}" srcOrd="1" destOrd="0" parTransId="{1DA1ED1B-1572-7A41-89A8-50593210C8E1}" sibTransId="{C05148F5-141C-D847-8778-15337C32CDD7}"/>
    <dgm:cxn modelId="{FBE5AA94-8328-42BA-998C-CEB0848C4490}" srcId="{B686746D-24FC-4EE6-A312-C236D0CB3E80}" destId="{A833DEF1-A9A5-4FB7-BBCA-3DA27874B4FB}" srcOrd="0" destOrd="0" parTransId="{9EB454BC-721E-472A-A6A8-EA58169D7915}" sibTransId="{AF25A160-3078-4F19-A4DB-EEC71EFBAE16}"/>
    <dgm:cxn modelId="{F3563797-A8E7-BC48-99DF-3E06E55324D0}" type="presOf" srcId="{A3527506-2C8C-4C98-A054-B9E26F14E0E8}" destId="{5CA632B3-B267-5A43-84D5-A2B422B322FB}" srcOrd="0" destOrd="0" presId="urn:microsoft.com/office/officeart/2005/8/layout/list1"/>
    <dgm:cxn modelId="{14ACB8A2-31F4-D144-8E18-C448E7853975}" type="presOf" srcId="{A833DEF1-A9A5-4FB7-BBCA-3DA27874B4FB}" destId="{B57EF37E-C63E-4B4F-8AB9-5A8FB9DDFFE6}" srcOrd="0" destOrd="0" presId="urn:microsoft.com/office/officeart/2005/8/layout/list1"/>
    <dgm:cxn modelId="{B9E969AB-8325-4122-A4BD-825646E4F603}" srcId="{77CB4A07-0993-4AB7-848D-7FA6520382DB}" destId="{A3527506-2C8C-4C98-A054-B9E26F14E0E8}" srcOrd="0" destOrd="0" parTransId="{AE5AF24D-C821-436A-9BF5-F83D7DD989CF}" sibTransId="{A817F095-3644-442E-8360-4E4D16939685}"/>
    <dgm:cxn modelId="{13350CAC-F44D-7B47-BAB7-333E494212FD}" type="presOf" srcId="{8A414551-C19C-B145-813B-28E92E31673A}" destId="{97F8941D-9508-F54D-853B-925D9E9113B3}" srcOrd="0" destOrd="1" presId="urn:microsoft.com/office/officeart/2005/8/layout/list1"/>
    <dgm:cxn modelId="{AD2E7CB1-22DF-4A5E-B510-A233BB8DAE8D}" srcId="{A833DEF1-A9A5-4FB7-BBCA-3DA27874B4FB}" destId="{E2330DCA-BD10-4C47-83A0-6D6338A7213F}" srcOrd="0" destOrd="0" parTransId="{532C3DC2-FB0F-4343-ADB2-66675114BF33}" sibTransId="{4BB6ACED-930C-4792-A6EF-3D23B3E7D9D0}"/>
    <dgm:cxn modelId="{A85E26FF-D871-C649-A4A5-720CD8C5B357}" type="presOf" srcId="{45F7C71C-38DA-444A-BF6F-E6E172F8E594}" destId="{5CA632B3-B267-5A43-84D5-A2B422B322FB}" srcOrd="0" destOrd="1" presId="urn:microsoft.com/office/officeart/2005/8/layout/list1"/>
    <dgm:cxn modelId="{EC9402B4-8E8F-384E-AE51-3EDB2EC41E90}" type="presParOf" srcId="{6A4661F3-D1FF-D845-BA03-94C8BA118402}" destId="{0C22D4DE-5650-BE48-8137-AC2CCA30904F}" srcOrd="0" destOrd="0" presId="urn:microsoft.com/office/officeart/2005/8/layout/list1"/>
    <dgm:cxn modelId="{A42F5670-E6D5-E84D-8A4B-E2E8CACF738E}" type="presParOf" srcId="{0C22D4DE-5650-BE48-8137-AC2CCA30904F}" destId="{B57EF37E-C63E-4B4F-8AB9-5A8FB9DDFFE6}" srcOrd="0" destOrd="0" presId="urn:microsoft.com/office/officeart/2005/8/layout/list1"/>
    <dgm:cxn modelId="{FB2CBEAC-B035-D64C-AED5-212EFC8B5F47}" type="presParOf" srcId="{0C22D4DE-5650-BE48-8137-AC2CCA30904F}" destId="{647AC24B-5990-B04A-8967-DC3600BFC63F}" srcOrd="1" destOrd="0" presId="urn:microsoft.com/office/officeart/2005/8/layout/list1"/>
    <dgm:cxn modelId="{4E4490A9-30EC-094B-BDF8-3CEA31F4FB61}" type="presParOf" srcId="{6A4661F3-D1FF-D845-BA03-94C8BA118402}" destId="{0AEFB117-94B0-C241-BA0E-A5CB428F7BE7}" srcOrd="1" destOrd="0" presId="urn:microsoft.com/office/officeart/2005/8/layout/list1"/>
    <dgm:cxn modelId="{5B3972D1-2E09-F54B-8810-165230B96CA3}" type="presParOf" srcId="{6A4661F3-D1FF-D845-BA03-94C8BA118402}" destId="{97F8941D-9508-F54D-853B-925D9E9113B3}" srcOrd="2" destOrd="0" presId="urn:microsoft.com/office/officeart/2005/8/layout/list1"/>
    <dgm:cxn modelId="{E7DF2853-1063-E24B-9B69-6192D474FE4C}" type="presParOf" srcId="{6A4661F3-D1FF-D845-BA03-94C8BA118402}" destId="{57624ECA-F8BC-3143-BA41-178E97114BCD}" srcOrd="3" destOrd="0" presId="urn:microsoft.com/office/officeart/2005/8/layout/list1"/>
    <dgm:cxn modelId="{1AD5979B-D758-4D4C-AAC3-EF0E83A58344}" type="presParOf" srcId="{6A4661F3-D1FF-D845-BA03-94C8BA118402}" destId="{DADCFCBD-220D-4E4E-AE45-9AAE32EF3CCA}" srcOrd="4" destOrd="0" presId="urn:microsoft.com/office/officeart/2005/8/layout/list1"/>
    <dgm:cxn modelId="{9B18CA5E-A1AA-FB47-A330-2A0975EC6D2C}" type="presParOf" srcId="{DADCFCBD-220D-4E4E-AE45-9AAE32EF3CCA}" destId="{C0059A76-FBEC-264E-9099-AD2B86215AD1}" srcOrd="0" destOrd="0" presId="urn:microsoft.com/office/officeart/2005/8/layout/list1"/>
    <dgm:cxn modelId="{B3BA73CF-D9FF-EC43-8110-3D53807EE81B}" type="presParOf" srcId="{DADCFCBD-220D-4E4E-AE45-9AAE32EF3CCA}" destId="{A919EFAE-CEE6-D54A-A0E8-F97F8A422D41}" srcOrd="1" destOrd="0" presId="urn:microsoft.com/office/officeart/2005/8/layout/list1"/>
    <dgm:cxn modelId="{A6E18896-90EE-C64F-BF68-66302FDD68A5}" type="presParOf" srcId="{6A4661F3-D1FF-D845-BA03-94C8BA118402}" destId="{A9DEC3FA-748E-3A47-8C52-D5D1D5B56ABC}" srcOrd="5" destOrd="0" presId="urn:microsoft.com/office/officeart/2005/8/layout/list1"/>
    <dgm:cxn modelId="{85976A6C-6322-2D4F-9EC3-DDD7C6F62A67}" type="presParOf" srcId="{6A4661F3-D1FF-D845-BA03-94C8BA118402}" destId="{5CA632B3-B267-5A43-84D5-A2B422B322FB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AF780CB-6495-E34D-9F9A-A263718C71CF}">
      <dsp:nvSpPr>
        <dsp:cNvPr id="0" name=""/>
        <dsp:cNvSpPr/>
      </dsp:nvSpPr>
      <dsp:spPr>
        <a:xfrm>
          <a:off x="1060" y="505393"/>
          <a:ext cx="3722005" cy="23634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D1B0F3-9D75-E942-9629-246AC0DF1AB0}">
      <dsp:nvSpPr>
        <dsp:cNvPr id="0" name=""/>
        <dsp:cNvSpPr/>
      </dsp:nvSpPr>
      <dsp:spPr>
        <a:xfrm>
          <a:off x="414616" y="898271"/>
          <a:ext cx="3722005" cy="236347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Dataset - Census income dataset</a:t>
          </a:r>
        </a:p>
      </dsp:txBody>
      <dsp:txXfrm>
        <a:off x="483840" y="967495"/>
        <a:ext cx="3583557" cy="2225025"/>
      </dsp:txXfrm>
    </dsp:sp>
    <dsp:sp modelId="{888C0490-F6E7-5040-A73D-BCB46175F476}">
      <dsp:nvSpPr>
        <dsp:cNvPr id="0" name=""/>
        <dsp:cNvSpPr/>
      </dsp:nvSpPr>
      <dsp:spPr>
        <a:xfrm>
          <a:off x="4550178" y="505393"/>
          <a:ext cx="3722005" cy="23634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0F801C-8475-0A4F-9521-9C5FC8093A6E}">
      <dsp:nvSpPr>
        <dsp:cNvPr id="0" name=""/>
        <dsp:cNvSpPr/>
      </dsp:nvSpPr>
      <dsp:spPr>
        <a:xfrm>
          <a:off x="4963734" y="898271"/>
          <a:ext cx="3722005" cy="236347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Sensitive variables considered – Race and Sex</a:t>
          </a:r>
        </a:p>
      </dsp:txBody>
      <dsp:txXfrm>
        <a:off x="5032958" y="967495"/>
        <a:ext cx="3583557" cy="22250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A89A3C-B49C-4595-BFE8-83B576D8469E}">
      <dsp:nvSpPr>
        <dsp:cNvPr id="0" name=""/>
        <dsp:cNvSpPr/>
      </dsp:nvSpPr>
      <dsp:spPr>
        <a:xfrm>
          <a:off x="785675" y="681877"/>
          <a:ext cx="846070" cy="84607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63653D-98C2-4949-AFBE-E3D4864802C0}">
      <dsp:nvSpPr>
        <dsp:cNvPr id="0" name=""/>
        <dsp:cNvSpPr/>
      </dsp:nvSpPr>
      <dsp:spPr>
        <a:xfrm>
          <a:off x="38" y="1706028"/>
          <a:ext cx="2417343" cy="13824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Demographic parity as fairness measurement method</a:t>
          </a:r>
          <a:br>
            <a:rPr lang="en-US" sz="1400" kern="1200"/>
          </a:br>
          <a:br>
            <a:rPr lang="en-US" sz="1400" kern="1200"/>
          </a:br>
          <a:r>
            <a:rPr lang="en-US" sz="1400" i="1" kern="1200"/>
            <a:t>“How often does each group receives income over the set threshold?”</a:t>
          </a:r>
        </a:p>
      </dsp:txBody>
      <dsp:txXfrm>
        <a:off x="38" y="1706028"/>
        <a:ext cx="2417343" cy="1382418"/>
      </dsp:txXfrm>
    </dsp:sp>
    <dsp:sp modelId="{D2E867B8-0F56-42AE-9CF8-0E9CEF783DAD}">
      <dsp:nvSpPr>
        <dsp:cNvPr id="0" name=""/>
        <dsp:cNvSpPr/>
      </dsp:nvSpPr>
      <dsp:spPr>
        <a:xfrm>
          <a:off x="38" y="3171275"/>
          <a:ext cx="2417343" cy="16515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C6C09BE-9CD3-4ECA-BAA3-0B4578A103A1}">
      <dsp:nvSpPr>
        <dsp:cNvPr id="0" name=""/>
        <dsp:cNvSpPr/>
      </dsp:nvSpPr>
      <dsp:spPr>
        <a:xfrm>
          <a:off x="3626054" y="681877"/>
          <a:ext cx="846070" cy="84607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56BCF27-9377-4DF2-ACE0-AA36F5901336}">
      <dsp:nvSpPr>
        <dsp:cNvPr id="0" name=""/>
        <dsp:cNvSpPr/>
      </dsp:nvSpPr>
      <dsp:spPr>
        <a:xfrm>
          <a:off x="2840417" y="1706028"/>
          <a:ext cx="2417343" cy="13824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Metrics:</a:t>
          </a:r>
        </a:p>
      </dsp:txBody>
      <dsp:txXfrm>
        <a:off x="2840417" y="1706028"/>
        <a:ext cx="2417343" cy="1382418"/>
      </dsp:txXfrm>
    </dsp:sp>
    <dsp:sp modelId="{0CB5D09D-09F6-4F99-ADBB-A8B8B4545B6E}">
      <dsp:nvSpPr>
        <dsp:cNvPr id="0" name=""/>
        <dsp:cNvSpPr/>
      </dsp:nvSpPr>
      <dsp:spPr>
        <a:xfrm>
          <a:off x="2840417" y="3171275"/>
          <a:ext cx="2417343" cy="16515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Statistical parity difference (SPD)</a:t>
          </a:r>
          <a:br>
            <a:rPr lang="en-US" sz="1400" kern="1200" dirty="0"/>
          </a:br>
          <a:r>
            <a:rPr lang="en-US" sz="1400" kern="1200" dirty="0"/>
            <a:t>“Gap in the positive outcome between privileged vs unprivileged groups”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Disparate Impact (DI)</a:t>
          </a:r>
          <a:br>
            <a:rPr lang="en-US" sz="1400" kern="1200" dirty="0"/>
          </a:br>
          <a:r>
            <a:rPr lang="en-US" sz="1400" i="1" kern="1200" dirty="0"/>
            <a:t>“Ratio – privileged vs unprivileged</a:t>
          </a:r>
          <a:r>
            <a:rPr lang="en-US" sz="1100" i="1" kern="1200" dirty="0"/>
            <a:t>”</a:t>
          </a:r>
        </a:p>
      </dsp:txBody>
      <dsp:txXfrm>
        <a:off x="2840417" y="3171275"/>
        <a:ext cx="2417343" cy="165153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7F8941D-9508-F54D-853B-925D9E9113B3}">
      <dsp:nvSpPr>
        <dsp:cNvPr id="0" name=""/>
        <dsp:cNvSpPr/>
      </dsp:nvSpPr>
      <dsp:spPr>
        <a:xfrm>
          <a:off x="0" y="529344"/>
          <a:ext cx="10515600" cy="1573424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562356" rIns="816127" bIns="192024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/>
            <a:t>'SPD': 0.196, 'DI': 0.365</a:t>
          </a:r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/>
            <a:t>Likelihood ratio  0.30/0.11 =2.73</a:t>
          </a:r>
        </a:p>
      </dsp:txBody>
      <dsp:txXfrm>
        <a:off x="0" y="529344"/>
        <a:ext cx="10515600" cy="1573424"/>
      </dsp:txXfrm>
    </dsp:sp>
    <dsp:sp modelId="{647AC24B-5990-B04A-8967-DC3600BFC63F}">
      <dsp:nvSpPr>
        <dsp:cNvPr id="0" name=""/>
        <dsp:cNvSpPr/>
      </dsp:nvSpPr>
      <dsp:spPr>
        <a:xfrm>
          <a:off x="525780" y="130824"/>
          <a:ext cx="7360920" cy="797039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Sex: 'DP': 'Female': 0.11, 'Male': 0.30 </a:t>
          </a:r>
        </a:p>
      </dsp:txBody>
      <dsp:txXfrm>
        <a:off x="564688" y="169732"/>
        <a:ext cx="7283104" cy="719223"/>
      </dsp:txXfrm>
    </dsp:sp>
    <dsp:sp modelId="{5CA632B3-B267-5A43-84D5-A2B422B322FB}">
      <dsp:nvSpPr>
        <dsp:cNvPr id="0" name=""/>
        <dsp:cNvSpPr/>
      </dsp:nvSpPr>
      <dsp:spPr>
        <a:xfrm>
          <a:off x="0" y="2647089"/>
          <a:ext cx="10515600" cy="1573424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562356" rIns="816127" bIns="192024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/>
            <a:t>'SPD': 0.10, 'DI': 0.61</a:t>
          </a:r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/>
            <a:t>Likelihood ratio  0.26/0.16 =1.64</a:t>
          </a:r>
        </a:p>
      </dsp:txBody>
      <dsp:txXfrm>
        <a:off x="0" y="2647089"/>
        <a:ext cx="10515600" cy="1573424"/>
      </dsp:txXfrm>
    </dsp:sp>
    <dsp:sp modelId="{A919EFAE-CEE6-D54A-A0E8-F97F8A422D41}">
      <dsp:nvSpPr>
        <dsp:cNvPr id="0" name=""/>
        <dsp:cNvSpPr/>
      </dsp:nvSpPr>
      <dsp:spPr>
        <a:xfrm>
          <a:off x="525780" y="2248569"/>
          <a:ext cx="7360920" cy="797039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Race: 'DP': ‘Non-White’: 0.158, 'White': 0.259 </a:t>
          </a:r>
        </a:p>
      </dsp:txBody>
      <dsp:txXfrm>
        <a:off x="564688" y="2287477"/>
        <a:ext cx="7283104" cy="71922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DD285-EB1B-A8D1-FEF6-D0D605E255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93CF3B-7CE9-6776-748A-AFCBD442AC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9BBEA-8713-A129-FE90-CC9FA58CB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563447-3450-F5E1-0E3A-220DC635F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AA93C-D5D2-B124-8D26-4AA57F108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855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956CE-1412-3154-8C69-029779B2D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74327B-6CE9-7A5E-6899-EA875A1D4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066FCD-1A47-C606-6741-8A2A282B1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066B2F-14FC-6369-C3A4-D80DC5E84A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C48212-0A98-8B98-6585-4EEEB97AF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686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D919F-47B5-5950-E1F1-9D1137E97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969F7D-1104-E3A3-2557-77F5002453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3FD31E-8CC7-CCF8-AA74-7A283436F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0DB0F-FAE8-2B7A-A963-845284388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8B725-CC42-8A7D-031B-391C68F80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910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13F37-9E64-B7EC-CB4B-45367DE4A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8ECFC-8ED0-C6F0-CF17-998C1980C2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DCDABB-2BE2-9749-D742-89153BE5F6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A8EADA-8117-E4F3-1C34-DEB0089AC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278C3-614B-F189-060E-45805BA3C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928D75-45A7-057F-8A6B-A30069248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6971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4F5C3-5819-FDF3-5044-92B61ABB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6BC72D-FA05-8B1E-5975-49AE4E2ED5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24217E-C084-165B-D3B1-993F74F081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8D99DF-0832-696B-AA24-72B186EDDB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6B1881-B55F-E99B-830E-E919FC7AD2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F13857-18AB-C4DE-2800-EDEC23BA8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12/1/25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9099C5-E68D-3CE9-C268-7B72EC816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D93935-E285-C5C3-5D29-66A6B376B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138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25E7E-CD07-B26C-0D54-9FD0A2960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797E3C-46C8-ECAF-F08A-9C7E95037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2E26E7-8F2A-87D9-8B0B-BCBE3504D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6016ED-A5A1-A95B-F14E-1C8C0C222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5013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1A76CF-B9D5-9612-72DB-D8734AB13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6F4307-4756-A708-D56F-73010C317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05F5D6-5D52-791D-B60F-DA14D6B03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926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CBE61-6954-61F4-EFF4-3168C4C89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E9B55A-FBA1-8FFD-4422-DF69B997B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670227-0B66-DBEA-2855-52B561868C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1AC48A-C082-E606-6BEF-88ADB5779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00853F-CB26-4B1D-94B2-794C5E474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815993-D6F7-7A05-2050-86C6A9671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3598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7F0C8-E497-00EF-4CB7-BBB87A1B2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3AE454-026F-9394-C01C-292FE3A9C1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E5B594-00DB-3AB8-1988-93E907BBC1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DD05F-29C0-A424-CC7F-7B8A0E0F2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B9B14B-5FCF-5D55-538B-F10A66081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4E6D41-6E22-B585-F9F1-868AA244D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285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C07EB-D468-B44E-0F92-8EF8272C7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A0D0A4-C712-96C3-85C9-36D64DB5E1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BB5C86-2331-1043-DD36-936DF505F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E890C6-F852-AF85-11AF-CF207F0C5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E59A83-76C3-D440-BFFA-94689F53B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6268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094240-1D0B-F5FF-4884-1D00AC0617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2849E5-9F32-500B-9DBB-E3CA4E22FA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B80C26-E1E5-4F08-2BF8-F7AADED88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852E39-097F-7BD4-ECCD-B76953ED4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14D88F-76F2-B15A-B28D-244CD965D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379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C63033-4A9C-C70B-2621-BF80C94BB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19905B-CCD5-4FD2-34F4-624B22B09D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94276-996D-94C3-C128-D67D304C03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A38683-CD9A-7341-F805-15CBA95D6B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6DE34-C2FA-3851-952E-21EEDF9E86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827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02" r:id="rId1"/>
    <p:sldLayoutId id="2147484003" r:id="rId2"/>
    <p:sldLayoutId id="2147484004" r:id="rId3"/>
    <p:sldLayoutId id="2147484005" r:id="rId4"/>
    <p:sldLayoutId id="2147484006" r:id="rId5"/>
    <p:sldLayoutId id="2147484007" r:id="rId6"/>
    <p:sldLayoutId id="2147484008" r:id="rId7"/>
    <p:sldLayoutId id="2147484009" r:id="rId8"/>
    <p:sldLayoutId id="2147484010" r:id="rId9"/>
    <p:sldLayoutId id="2147484011" r:id="rId10"/>
    <p:sldLayoutId id="214748401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810CB-36BF-DBD2-0691-E1C27B0C29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468" y="643467"/>
            <a:ext cx="4620584" cy="4567137"/>
          </a:xfrm>
        </p:spPr>
        <p:txBody>
          <a:bodyPr>
            <a:normAutofit/>
          </a:bodyPr>
          <a:lstStyle/>
          <a:p>
            <a:pPr algn="l"/>
            <a:r>
              <a:rPr lang="en-US" sz="4400"/>
              <a:t>Fairness Aware Machine learning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56099E-D1A6-0CEF-F84E-DC34D80C93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7" y="5277684"/>
            <a:ext cx="4620584" cy="775494"/>
          </a:xfrm>
        </p:spPr>
        <p:txBody>
          <a:bodyPr>
            <a:normAutofit/>
          </a:bodyPr>
          <a:lstStyle/>
          <a:p>
            <a:pPr algn="l"/>
            <a:r>
              <a:rPr lang="en-US" sz="2000"/>
              <a:t>Charles Santhakumar</a:t>
            </a:r>
          </a:p>
          <a:p>
            <a:pPr algn="l"/>
            <a:r>
              <a:rPr lang="en-US" sz="2000"/>
              <a:t>Roberto Villafuerte</a:t>
            </a:r>
          </a:p>
        </p:txBody>
      </p:sp>
      <p:pic>
        <p:nvPicPr>
          <p:cNvPr id="4" name="Picture 3" descr="A pink background with lines and dots&#10;&#10;AI-generated content may be incorrect.">
            <a:extLst>
              <a:ext uri="{FF2B5EF4-FFF2-40B4-BE49-F238E27FC236}">
                <a16:creationId xmlns:a16="http://schemas.microsoft.com/office/drawing/2014/main" id="{0A05BC3C-A413-A0FD-9C7F-8DF2C83B09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28" r="4226"/>
          <a:stretch>
            <a:fillRect/>
          </a:stretch>
        </p:blipFill>
        <p:spPr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95989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3BDE6-C47F-687C-1EF6-3122EF651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8686800" cy="1463040"/>
          </a:xfrm>
        </p:spPr>
        <p:txBody>
          <a:bodyPr>
            <a:normAutofit/>
          </a:bodyPr>
          <a:lstStyle/>
          <a:p>
            <a:r>
              <a:rPr lang="en-US" dirty="0"/>
              <a:t>Dataset &amp; Sensitive variable</a:t>
            </a:r>
          </a:p>
        </p:txBody>
      </p:sp>
      <p:graphicFrame>
        <p:nvGraphicFramePr>
          <p:cNvPr id="22" name="Content Placeholder 2">
            <a:extLst>
              <a:ext uri="{FF2B5EF4-FFF2-40B4-BE49-F238E27FC236}">
                <a16:creationId xmlns:a16="http://schemas.microsoft.com/office/drawing/2014/main" id="{40372650-A8DD-F875-0F30-456FFC456F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20843228"/>
              </p:ext>
            </p:extLst>
          </p:nvPr>
        </p:nvGraphicFramePr>
        <p:xfrm>
          <a:off x="520700" y="2578100"/>
          <a:ext cx="868680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1714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E631F-B561-4216-469A-08E3AFB44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8"/>
            <a:ext cx="4862848" cy="5569291"/>
          </a:xfrm>
        </p:spPr>
        <p:txBody>
          <a:bodyPr>
            <a:normAutofit/>
          </a:bodyPr>
          <a:lstStyle/>
          <a:p>
            <a:r>
              <a:rPr lang="en-US" sz="5200"/>
              <a:t>Fairness metrics</a:t>
            </a:r>
          </a:p>
        </p:txBody>
      </p:sp>
      <p:graphicFrame>
        <p:nvGraphicFramePr>
          <p:cNvPr id="22" name="Content Placeholder 2">
            <a:extLst>
              <a:ext uri="{FF2B5EF4-FFF2-40B4-BE49-F238E27FC236}">
                <a16:creationId xmlns:a16="http://schemas.microsoft.com/office/drawing/2014/main" id="{4E35238E-6350-8FB9-C4F2-7E193A5D04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51011561"/>
              </p:ext>
            </p:extLst>
          </p:nvPr>
        </p:nvGraphicFramePr>
        <p:xfrm>
          <a:off x="6099048" y="621792"/>
          <a:ext cx="525780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325506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2A59AABE-A75C-1460-208B-46DEDD84938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b="1279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F01451-4229-36AC-5B90-8557BD87B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Raw Fairness</a:t>
            </a:r>
          </a:p>
        </p:txBody>
      </p:sp>
      <p:graphicFrame>
        <p:nvGraphicFramePr>
          <p:cNvPr id="25" name="Content Placeholder 2">
            <a:extLst>
              <a:ext uri="{FF2B5EF4-FFF2-40B4-BE49-F238E27FC236}">
                <a16:creationId xmlns:a16="http://schemas.microsoft.com/office/drawing/2014/main" id="{D74B99D4-A723-E122-B21A-FD1B5EF082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989067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937515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8FDD6-9DB8-2725-A6D4-CA96BE616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 comparison – Accuracy &amp; Fairness metrics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6AC4E36-5BBF-A54E-A619-57C3860F8F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3783806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0649674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101</TotalTime>
  <Words>141</Words>
  <Application>Microsoft Macintosh PowerPoint</Application>
  <PresentationFormat>Widescreen</PresentationFormat>
  <Paragraphs>20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Fairness Aware Machine learning</vt:lpstr>
      <vt:lpstr>Dataset &amp; Sensitive variable</vt:lpstr>
      <vt:lpstr>Fairness metrics</vt:lpstr>
      <vt:lpstr>Raw Fairness</vt:lpstr>
      <vt:lpstr>Model comparison – Accuracy &amp; Fairness metrics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Sagayanathan, Charles</dc:creator>
  <cp:lastModifiedBy>Sagayanathan, Charles</cp:lastModifiedBy>
  <cp:revision>28</cp:revision>
  <dcterms:created xsi:type="dcterms:W3CDTF">2025-11-30T22:10:36Z</dcterms:created>
  <dcterms:modified xsi:type="dcterms:W3CDTF">2025-11-30T23:52:03Z</dcterms:modified>
</cp:coreProperties>
</file>